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9" r:id="rId8"/>
    <p:sldId id="270" r:id="rId9"/>
    <p:sldId id="271" r:id="rId10"/>
    <p:sldId id="272" r:id="rId11"/>
    <p:sldId id="273" r:id="rId12"/>
    <p:sldId id="274" r:id="rId13"/>
    <p:sldId id="262" r:id="rId14"/>
    <p:sldId id="275" r:id="rId15"/>
    <p:sldId id="263" r:id="rId16"/>
    <p:sldId id="276" r:id="rId17"/>
    <p:sldId id="277" r:id="rId18"/>
    <p:sldId id="264" r:id="rId19"/>
    <p:sldId id="265" r:id="rId20"/>
    <p:sldId id="266" r:id="rId21"/>
    <p:sldId id="267" r:id="rId22"/>
    <p:sldId id="268"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c:v>
                </c:pt>
              </c:strCache>
            </c:strRef>
          </c:tx>
          <c:spPr>
            <a:ln>
              <a:noFill/>
            </a:ln>
          </c:spPr>
          <c:marker>
            <c:symbol val="circle"/>
            <c:size val="11"/>
            <c:spPr>
              <a:solidFill>
                <a:srgbClr val="AEC0D6"/>
              </a:solidFill>
              <a:ln w="19050">
                <a:solidFill>
                  <a:srgbClr val="FFFFFF"/>
                </a:solidFill>
              </a:ln>
            </c:spPr>
          </c:marker>
          <c:dLbls>
            <c:numFmt formatCode="0.000" sourceLinked="0"/>
            <c:spPr>
              <a:noFill/>
              <a:ln>
                <a:noFill/>
              </a:ln>
              <a:effectLst/>
            </c:spPr>
            <c:txPr>
              <a:bodyPr/>
              <a:lstStyle/>
              <a:p>
                <a:pPr>
                  <a:defRPr sz="1200" b="0">
                    <a:solidFill>
                      <a:srgbClr val="4A5568"/>
                    </a:solidFill>
                    <a:latin typeface="IBM Plex San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Sheet1!$B$2:$B$4</c:f>
              <c:numCache>
                <c:formatCode>0.000</c:formatCode>
                <c:ptCount val="3"/>
                <c:pt idx="0">
                  <c:v>0.9</c:v>
                </c:pt>
                <c:pt idx="1">
                  <c:v>0.89700000000000002</c:v>
                </c:pt>
                <c:pt idx="2">
                  <c:v>0.877</c:v>
                </c:pt>
              </c:numCache>
            </c:numRef>
          </c:val>
          <c:smooth val="0"/>
          <c:extLst>
            <c:ext xmlns:c16="http://schemas.microsoft.com/office/drawing/2014/chart" uri="{C3380CC4-5D6E-409C-BE32-E72D297353CC}">
              <c16:uniqueId val="{00000000-7787-48FB-91AA-A3CB907D2B7C}"/>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Sheet1!$C$2:$C$4</c:f>
              <c:numCache>
                <c:formatCode>0.0000</c:formatCode>
                <c:ptCount val="3"/>
                <c:pt idx="0">
                  <c:v>0.90044000000000002</c:v>
                </c:pt>
                <c:pt idx="1">
                  <c:v>0.89868000000000003</c:v>
                </c:pt>
                <c:pt idx="2">
                  <c:v>0.88016000000000005</c:v>
                </c:pt>
              </c:numCache>
            </c:numRef>
          </c:val>
          <c:smooth val="0"/>
          <c:extLst>
            <c:ext xmlns:c16="http://schemas.microsoft.com/office/drawing/2014/chart" uri="{C3380CC4-5D6E-409C-BE32-E72D297353CC}">
              <c16:uniqueId val="{00000001-7787-48FB-91AA-A3CB907D2B7C}"/>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91"/>
          <c:min val="0.87"/>
        </c:scaling>
        <c:delete val="0"/>
        <c:axPos val="l"/>
        <c:majorGridlines>
          <c:spPr>
            <a:ln w="9525">
              <a:solidFill>
                <a:srgbClr val="E3E6EC"/>
              </a:solidFill>
            </a:ln>
          </c:spPr>
        </c:majorGridlines>
        <c:numFmt formatCode="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0.01"/>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c:v>
                </c:pt>
              </c:strCache>
            </c:strRef>
          </c:tx>
          <c:spPr>
            <a:ln>
              <a:noFill/>
            </a:ln>
          </c:spPr>
          <c:marker>
            <c:symbol val="circle"/>
            <c:size val="11"/>
            <c:spPr>
              <a:solidFill>
                <a:srgbClr val="AEC0D6"/>
              </a:solidFill>
              <a:ln w="19050">
                <a:solidFill>
                  <a:srgbClr val="FFFFFF"/>
                </a:solidFill>
              </a:ln>
            </c:spPr>
          </c:marker>
          <c:dLbls>
            <c:numFmt formatCode="0.000" sourceLinked="0"/>
            <c:spPr>
              <a:noFill/>
              <a:ln>
                <a:noFill/>
              </a:ln>
              <a:effectLst/>
            </c:spPr>
            <c:txPr>
              <a:bodyPr/>
              <a:lstStyle/>
              <a:p>
                <a:pPr>
                  <a:defRPr sz="1200" b="0">
                    <a:solidFill>
                      <a:srgbClr val="4A5568"/>
                    </a:solidFill>
                    <a:latin typeface="IBM Plex San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Sheet1!$B$2:$B$4</c:f>
              <c:numCache>
                <c:formatCode>0.000</c:formatCode>
                <c:ptCount val="3"/>
                <c:pt idx="0">
                  <c:v>0.90100000000000002</c:v>
                </c:pt>
                <c:pt idx="1">
                  <c:v>0.89800000000000002</c:v>
                </c:pt>
                <c:pt idx="2">
                  <c:v>0.9</c:v>
                </c:pt>
              </c:numCache>
            </c:numRef>
          </c:val>
          <c:smooth val="0"/>
          <c:extLst>
            <c:ext xmlns:c16="http://schemas.microsoft.com/office/drawing/2014/chart" uri="{C3380CC4-5D6E-409C-BE32-E72D297353CC}">
              <c16:uniqueId val="{00000000-AE6A-4B82-8826-13343E03910E}"/>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Sheet1!$C$2:$C$4</c:f>
              <c:numCache>
                <c:formatCode>0.0000</c:formatCode>
                <c:ptCount val="3"/>
                <c:pt idx="0">
                  <c:v>0.89900000000000002</c:v>
                </c:pt>
                <c:pt idx="1">
                  <c:v>0.89964</c:v>
                </c:pt>
                <c:pt idx="2">
                  <c:v>0.90227999999999997</c:v>
                </c:pt>
              </c:numCache>
            </c:numRef>
          </c:val>
          <c:smooth val="0"/>
          <c:extLst>
            <c:ext xmlns:c16="http://schemas.microsoft.com/office/drawing/2014/chart" uri="{C3380CC4-5D6E-409C-BE32-E72D297353CC}">
              <c16:uniqueId val="{00000001-AE6A-4B82-8826-13343E03910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91"/>
          <c:min val="0.89"/>
        </c:scaling>
        <c:delete val="0"/>
        <c:axPos val="l"/>
        <c:majorGridlines>
          <c:spPr>
            <a:ln w="9525">
              <a:solidFill>
                <a:srgbClr val="E3E6EC"/>
              </a:solidFill>
            </a:ln>
          </c:spPr>
        </c:majorGridlines>
        <c:numFmt formatCode="0.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5.0000000000000001E-3"/>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c:v>
                </c:pt>
              </c:strCache>
            </c:strRef>
          </c:tx>
          <c:spPr>
            <a:ln>
              <a:noFill/>
            </a:ln>
          </c:spPr>
          <c:marker>
            <c:symbol val="circle"/>
            <c:size val="11"/>
            <c:spPr>
              <a:solidFill>
                <a:srgbClr val="AEC0D6"/>
              </a:solidFill>
              <a:ln w="19050">
                <a:solidFill>
                  <a:srgbClr val="FFFFFF"/>
                </a:solidFill>
              </a:ln>
            </c:spPr>
          </c:marker>
          <c:dLbls>
            <c:numFmt formatCode="0.000" sourceLinked="0"/>
            <c:spPr>
              <a:noFill/>
              <a:ln>
                <a:noFill/>
              </a:ln>
              <a:effectLst/>
            </c:spPr>
            <c:txPr>
              <a:bodyPr/>
              <a:lstStyle/>
              <a:p>
                <a:pPr>
                  <a:defRPr sz="1200" b="0">
                    <a:solidFill>
                      <a:srgbClr val="4A5568"/>
                    </a:solidFill>
                    <a:latin typeface="IBM Plex San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Sheet1!$B$2:$B$4</c:f>
              <c:numCache>
                <c:formatCode>0.000</c:formatCode>
                <c:ptCount val="3"/>
                <c:pt idx="0">
                  <c:v>0.88100000000000001</c:v>
                </c:pt>
                <c:pt idx="1">
                  <c:v>0.874</c:v>
                </c:pt>
                <c:pt idx="2">
                  <c:v>0.879</c:v>
                </c:pt>
              </c:numCache>
            </c:numRef>
          </c:val>
          <c:smooth val="0"/>
          <c:extLst>
            <c:ext xmlns:c16="http://schemas.microsoft.com/office/drawing/2014/chart" uri="{C3380CC4-5D6E-409C-BE32-E72D297353CC}">
              <c16:uniqueId val="{00000000-2847-4226-AA92-E8629D667946}"/>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Sheet1!$C$2:$C$4</c:f>
              <c:numCache>
                <c:formatCode>0.0000</c:formatCode>
                <c:ptCount val="3"/>
                <c:pt idx="0">
                  <c:v>0.87948000000000004</c:v>
                </c:pt>
                <c:pt idx="1">
                  <c:v>0.87307999999999997</c:v>
                </c:pt>
                <c:pt idx="2">
                  <c:v>0.87751999999999997</c:v>
                </c:pt>
              </c:numCache>
            </c:numRef>
          </c:val>
          <c:smooth val="0"/>
          <c:extLst>
            <c:ext xmlns:c16="http://schemas.microsoft.com/office/drawing/2014/chart" uri="{C3380CC4-5D6E-409C-BE32-E72D297353CC}">
              <c16:uniqueId val="{00000001-2847-4226-AA92-E8629D66794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88500000000000001"/>
          <c:min val="0.86499999999999999"/>
        </c:scaling>
        <c:delete val="0"/>
        <c:axPos val="l"/>
        <c:majorGridlines>
          <c:spPr>
            <a:ln w="9525">
              <a:solidFill>
                <a:srgbClr val="E3E6EC"/>
              </a:solidFill>
            </a:ln>
          </c:spPr>
        </c:majorGridlines>
        <c:numFmt formatCode="0.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5.0000000000000001E-3"/>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c:v>
                </c:pt>
              </c:strCache>
            </c:strRef>
          </c:tx>
          <c:spPr>
            <a:ln>
              <a:noFill/>
            </a:ln>
          </c:spPr>
          <c:marker>
            <c:symbol val="circle"/>
            <c:size val="11"/>
            <c:spPr>
              <a:solidFill>
                <a:srgbClr val="AEC0D6"/>
              </a:solidFill>
              <a:ln w="19050">
                <a:solidFill>
                  <a:srgbClr val="FFFFFF"/>
                </a:solidFill>
              </a:ln>
            </c:spPr>
          </c:marker>
          <c:dLbls>
            <c:numFmt formatCode="0.000" sourceLinked="0"/>
            <c:spPr>
              <a:noFill/>
              <a:ln>
                <a:noFill/>
              </a:ln>
              <a:effectLst/>
            </c:spPr>
            <c:txPr>
              <a:bodyPr/>
              <a:lstStyle/>
              <a:p>
                <a:pPr>
                  <a:defRPr sz="1200" b="0">
                    <a:solidFill>
                      <a:srgbClr val="4A5568"/>
                    </a:solidFill>
                    <a:latin typeface="IBM Plex San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Sheet1!$B$2:$B$4</c:f>
              <c:numCache>
                <c:formatCode>0.000</c:formatCode>
                <c:ptCount val="3"/>
                <c:pt idx="0">
                  <c:v>0.85199999999999998</c:v>
                </c:pt>
                <c:pt idx="1">
                  <c:v>0.84899999999999998</c:v>
                </c:pt>
                <c:pt idx="2">
                  <c:v>0.84399999999999997</c:v>
                </c:pt>
              </c:numCache>
            </c:numRef>
          </c:val>
          <c:smooth val="0"/>
          <c:extLst>
            <c:ext xmlns:c16="http://schemas.microsoft.com/office/drawing/2014/chart" uri="{C3380CC4-5D6E-409C-BE32-E72D297353CC}">
              <c16:uniqueId val="{00000000-D14C-4B86-A61A-8BBD5B89958D}"/>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Sheet1!$C$2:$C$4</c:f>
              <c:numCache>
                <c:formatCode>0.0000</c:formatCode>
                <c:ptCount val="3"/>
                <c:pt idx="0">
                  <c:v>0.86163999999999996</c:v>
                </c:pt>
                <c:pt idx="1">
                  <c:v>0.85980000000000001</c:v>
                </c:pt>
                <c:pt idx="2">
                  <c:v>0.85484000000000004</c:v>
                </c:pt>
              </c:numCache>
            </c:numRef>
          </c:val>
          <c:smooth val="0"/>
          <c:extLst>
            <c:ext xmlns:c16="http://schemas.microsoft.com/office/drawing/2014/chart" uri="{C3380CC4-5D6E-409C-BE32-E72D297353CC}">
              <c16:uniqueId val="{00000001-D14C-4B86-A61A-8BBD5B89958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87"/>
          <c:min val="0.84"/>
        </c:scaling>
        <c:delete val="0"/>
        <c:axPos val="l"/>
        <c:majorGridlines>
          <c:spPr>
            <a:ln w="9525">
              <a:solidFill>
                <a:srgbClr val="E3E6EC"/>
              </a:solidFill>
            </a:ln>
          </c:spPr>
        </c:majorGridlines>
        <c:numFmt formatCode="0.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5.0000000000000001E-3"/>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c:v>
                </c:pt>
              </c:strCache>
            </c:strRef>
          </c:tx>
          <c:spPr>
            <a:ln>
              <a:noFill/>
            </a:ln>
          </c:spPr>
          <c:marker>
            <c:symbol val="circle"/>
            <c:size val="11"/>
            <c:spPr>
              <a:solidFill>
                <a:srgbClr val="AEC0D6"/>
              </a:solidFill>
              <a:ln w="19050">
                <a:solidFill>
                  <a:srgbClr val="FFFFFF"/>
                </a:solidFill>
              </a:ln>
            </c:spPr>
          </c:marker>
          <c:dLbls>
            <c:numFmt formatCode="0.000" sourceLinked="0"/>
            <c:spPr>
              <a:noFill/>
              <a:ln>
                <a:noFill/>
              </a:ln>
              <a:effectLst/>
            </c:spPr>
            <c:txPr>
              <a:bodyPr/>
              <a:lstStyle/>
              <a:p>
                <a:pPr>
                  <a:defRPr sz="1200" b="0">
                    <a:solidFill>
                      <a:srgbClr val="4A5568"/>
                    </a:solidFill>
                    <a:latin typeface="IBM Plex San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Sheet1!$B$2:$B$4</c:f>
              <c:numCache>
                <c:formatCode>0.000</c:formatCode>
                <c:ptCount val="3"/>
                <c:pt idx="0">
                  <c:v>0.83099999999999996</c:v>
                </c:pt>
                <c:pt idx="1">
                  <c:v>0.83399999999999996</c:v>
                </c:pt>
                <c:pt idx="2">
                  <c:v>0.82499999999999996</c:v>
                </c:pt>
              </c:numCache>
            </c:numRef>
          </c:val>
          <c:smooth val="0"/>
          <c:extLst>
            <c:ext xmlns:c16="http://schemas.microsoft.com/office/drawing/2014/chart" uri="{C3380CC4-5D6E-409C-BE32-E72D297353CC}">
              <c16:uniqueId val="{00000000-06AA-4F3A-827A-C966920F7A55}"/>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Sheet1!$C$2:$C$4</c:f>
              <c:numCache>
                <c:formatCode>0.0000</c:formatCode>
                <c:ptCount val="3"/>
                <c:pt idx="0">
                  <c:v>0.81508000000000003</c:v>
                </c:pt>
                <c:pt idx="1">
                  <c:v>0.81691999999999998</c:v>
                </c:pt>
                <c:pt idx="2">
                  <c:v>0.81652000000000002</c:v>
                </c:pt>
              </c:numCache>
            </c:numRef>
          </c:val>
          <c:smooth val="0"/>
          <c:extLst>
            <c:ext xmlns:c16="http://schemas.microsoft.com/office/drawing/2014/chart" uri="{C3380CC4-5D6E-409C-BE32-E72D297353CC}">
              <c16:uniqueId val="{00000001-06AA-4F3A-827A-C966920F7A5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84"/>
          <c:min val="0.81"/>
        </c:scaling>
        <c:delete val="0"/>
        <c:axPos val="l"/>
        <c:majorGridlines>
          <c:spPr>
            <a:ln w="9525">
              <a:solidFill>
                <a:srgbClr val="E3E6EC"/>
              </a:solidFill>
            </a:ln>
          </c:spPr>
        </c:majorGridlines>
        <c:numFmt formatCode="0.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5.0000000000000001E-3"/>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c:v>
                </c:pt>
              </c:strCache>
            </c:strRef>
          </c:tx>
          <c:spPr>
            <a:ln>
              <a:noFill/>
            </a:ln>
          </c:spPr>
          <c:marker>
            <c:symbol val="circle"/>
            <c:size val="11"/>
            <c:spPr>
              <a:solidFill>
                <a:srgbClr val="AEC0D6"/>
              </a:solidFill>
              <a:ln w="19050">
                <a:solidFill>
                  <a:srgbClr val="FFFFFF"/>
                </a:solidFill>
              </a:ln>
            </c:spPr>
          </c:marker>
          <c:dLbls>
            <c:numFmt formatCode="0.000" sourceLinked="0"/>
            <c:spPr>
              <a:noFill/>
              <a:ln>
                <a:noFill/>
              </a:ln>
              <a:effectLst/>
            </c:spPr>
            <c:txPr>
              <a:bodyPr/>
              <a:lstStyle/>
              <a:p>
                <a:pPr>
                  <a:defRPr sz="1200" b="0">
                    <a:solidFill>
                      <a:srgbClr val="4A5568"/>
                    </a:solidFill>
                    <a:latin typeface="IBM Plex San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Sheet1!$B$2:$B$4</c:f>
              <c:numCache>
                <c:formatCode>0.000</c:formatCode>
                <c:ptCount val="3"/>
                <c:pt idx="0">
                  <c:v>0.90600000000000003</c:v>
                </c:pt>
                <c:pt idx="1">
                  <c:v>0.89800000000000002</c:v>
                </c:pt>
                <c:pt idx="2">
                  <c:v>0.90100000000000002</c:v>
                </c:pt>
              </c:numCache>
            </c:numRef>
          </c:val>
          <c:smooth val="0"/>
          <c:extLst>
            <c:ext xmlns:c16="http://schemas.microsoft.com/office/drawing/2014/chart" uri="{C3380CC4-5D6E-409C-BE32-E72D297353CC}">
              <c16:uniqueId val="{00000000-896D-4DC7-8209-9C06A3755EB0}"/>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Binary</c:v>
                </c:pt>
                <c:pt idx="1">
                  <c:v>Word count</c:v>
                </c:pt>
                <c:pt idx="2">
                  <c:v>Tf-idf</c:v>
                </c:pt>
              </c:strCache>
            </c:strRef>
          </c:cat>
          <c:val>
            <c:numRef>
              <c:f>Sheet1!$C$2:$C$4</c:f>
              <c:numCache>
                <c:formatCode>0.0000</c:formatCode>
                <c:ptCount val="3"/>
                <c:pt idx="0">
                  <c:v>0.89851999999999999</c:v>
                </c:pt>
                <c:pt idx="1">
                  <c:v>0.89527999999999996</c:v>
                </c:pt>
                <c:pt idx="2">
                  <c:v>0.89888000000000001</c:v>
                </c:pt>
              </c:numCache>
            </c:numRef>
          </c:val>
          <c:smooth val="0"/>
          <c:extLst>
            <c:ext xmlns:c16="http://schemas.microsoft.com/office/drawing/2014/chart" uri="{C3380CC4-5D6E-409C-BE32-E72D297353CC}">
              <c16:uniqueId val="{00000001-896D-4DC7-8209-9C06A3755EB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91"/>
          <c:min val="0.89"/>
        </c:scaling>
        <c:delete val="0"/>
        <c:axPos val="l"/>
        <c:majorGridlines>
          <c:spPr>
            <a:ln w="9525">
              <a:solidFill>
                <a:srgbClr val="E3E6EC"/>
              </a:solidFill>
            </a:ln>
          </c:spPr>
        </c:majorGridlines>
        <c:numFmt formatCode="0.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5.0000000000000001E-3"/>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Paper's best (0.906)</c:v>
                </c:pt>
              </c:strCache>
            </c:strRef>
          </c:tx>
          <c:spPr>
            <a:ln w="25400">
              <a:solidFill>
                <a:srgbClr val="C77D34"/>
              </a:solidFill>
              <a:prstDash val="dash"/>
            </a:ln>
          </c:spPr>
          <c:marker>
            <c:symbol val="none"/>
          </c:marker>
          <c:cat>
            <c:strRef>
              <c:f>Sheet1!$A$2:$A$6</c:f>
              <c:strCache>
                <c:ptCount val="5"/>
                <c:pt idx="0">
                  <c:v>MLP</c:v>
                </c:pt>
                <c:pt idx="1">
                  <c:v>SVM (wide C)</c:v>
                </c:pt>
                <c:pt idx="2">
                  <c:v>NB-SVM</c:v>
                </c:pt>
                <c:pt idx="3">
                  <c:v>NB-LR</c:v>
                </c:pt>
                <c:pt idx="4">
                  <c:v>Ensemble</c:v>
                </c:pt>
              </c:strCache>
            </c:strRef>
          </c:cat>
          <c:val>
            <c:numRef>
              <c:f>Sheet1!$B$2:$B$6</c:f>
              <c:numCache>
                <c:formatCode>0.000</c:formatCode>
                <c:ptCount val="5"/>
                <c:pt idx="0">
                  <c:v>0.90600000000000003</c:v>
                </c:pt>
                <c:pt idx="1">
                  <c:v>0.90600000000000003</c:v>
                </c:pt>
                <c:pt idx="2">
                  <c:v>0.90600000000000003</c:v>
                </c:pt>
                <c:pt idx="3">
                  <c:v>0.90600000000000003</c:v>
                </c:pt>
                <c:pt idx="4">
                  <c:v>0.90600000000000003</c:v>
                </c:pt>
              </c:numCache>
            </c:numRef>
          </c:val>
          <c:smooth val="0"/>
          <c:extLst>
            <c:ext xmlns:c16="http://schemas.microsoft.com/office/drawing/2014/chart" uri="{C3380CC4-5D6E-409C-BE32-E72D297353CC}">
              <c16:uniqueId val="{00000000-693A-492E-A8AA-F78BD322215F}"/>
            </c:ext>
          </c:extLst>
        </c:ser>
        <c:ser>
          <c:idx val="1"/>
          <c:order val="1"/>
          <c:tx>
            <c:strRef>
              <c:f>Sheet1!$C$1</c:f>
              <c:strCache>
                <c:ptCount val="1"/>
                <c:pt idx="0">
                  <c:v>Ours</c:v>
                </c:pt>
              </c:strCache>
            </c:strRef>
          </c:tx>
          <c:spPr>
            <a:ln>
              <a:noFill/>
            </a:ln>
          </c:spPr>
          <c:marker>
            <c:symbol val="circle"/>
            <c:size val="11"/>
            <c:spPr>
              <a:solidFill>
                <a:srgbClr val="1C2541"/>
              </a:solidFill>
              <a:ln w="19050">
                <a:solidFill>
                  <a:srgbClr val="FFFFFF"/>
                </a:solidFill>
              </a:ln>
            </c:spPr>
          </c:marker>
          <c:dLbls>
            <c:numFmt formatCode="0.0000" sourceLinked="0"/>
            <c:spPr>
              <a:noFill/>
              <a:ln>
                <a:noFill/>
              </a:ln>
              <a:effectLst/>
            </c:spPr>
            <c:txPr>
              <a:bodyPr/>
              <a:lstStyle/>
              <a:p>
                <a:pPr>
                  <a:defRPr sz="1200" b="1">
                    <a:solidFill>
                      <a:srgbClr val="1C2541"/>
                    </a:solidFill>
                    <a:latin typeface="IBM Plex San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MLP</c:v>
                </c:pt>
                <c:pt idx="1">
                  <c:v>SVM (wide C)</c:v>
                </c:pt>
                <c:pt idx="2">
                  <c:v>NB-SVM</c:v>
                </c:pt>
                <c:pt idx="3">
                  <c:v>NB-LR</c:v>
                </c:pt>
                <c:pt idx="4">
                  <c:v>Ensemble</c:v>
                </c:pt>
              </c:strCache>
            </c:strRef>
          </c:cat>
          <c:val>
            <c:numRef>
              <c:f>Sheet1!$C$2:$C$6</c:f>
              <c:numCache>
                <c:formatCode>0.0000</c:formatCode>
                <c:ptCount val="5"/>
                <c:pt idx="0">
                  <c:v>0.89312000000000002</c:v>
                </c:pt>
                <c:pt idx="1">
                  <c:v>0.90888000000000002</c:v>
                </c:pt>
                <c:pt idx="2">
                  <c:v>0.91568000000000005</c:v>
                </c:pt>
                <c:pt idx="3">
                  <c:v>0.91603999999999997</c:v>
                </c:pt>
                <c:pt idx="4">
                  <c:v>0.91820000000000002</c:v>
                </c:pt>
              </c:numCache>
            </c:numRef>
          </c:val>
          <c:smooth val="0"/>
          <c:extLst>
            <c:ext xmlns:c16="http://schemas.microsoft.com/office/drawing/2014/chart" uri="{C3380CC4-5D6E-409C-BE32-E72D297353CC}">
              <c16:uniqueId val="{00000001-693A-492E-A8AA-F78BD322215F}"/>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2C4C6"/>
            </a:solidFill>
          </a:ln>
        </c:spPr>
        <c:txPr>
          <a:bodyPr/>
          <a:lstStyle/>
          <a:p>
            <a:pPr>
              <a:defRPr sz="1250">
                <a:solidFill>
                  <a:srgbClr val="4A5568"/>
                </a:solidFill>
                <a:latin typeface="IBM Plex Sans"/>
              </a:defRPr>
            </a:pPr>
            <a:endParaRPr lang="en-US"/>
          </a:p>
        </c:txPr>
        <c:crossAx val="2140495176"/>
        <c:crosses val="autoZero"/>
        <c:auto val="1"/>
        <c:lblAlgn val="ctr"/>
        <c:lblOffset val="100"/>
        <c:noMultiLvlLbl val="0"/>
      </c:catAx>
      <c:valAx>
        <c:axId val="2140495176"/>
        <c:scaling>
          <c:orientation val="minMax"/>
          <c:max val="0.93"/>
          <c:min val="0.88"/>
        </c:scaling>
        <c:delete val="0"/>
        <c:axPos val="l"/>
        <c:majorGridlines>
          <c:spPr>
            <a:ln w="9525">
              <a:solidFill>
                <a:srgbClr val="E3E6EC"/>
              </a:solidFill>
            </a:ln>
          </c:spPr>
        </c:majorGridlines>
        <c:numFmt formatCode="0.00" sourceLinked="0"/>
        <c:majorTickMark val="out"/>
        <c:minorTickMark val="none"/>
        <c:tickLblPos val="nextTo"/>
        <c:spPr>
          <a:ln>
            <a:noFill/>
          </a:ln>
        </c:spPr>
        <c:txPr>
          <a:bodyPr/>
          <a:lstStyle/>
          <a:p>
            <a:pPr>
              <a:defRPr sz="1200">
                <a:solidFill>
                  <a:srgbClr val="4A5568"/>
                </a:solidFill>
                <a:latin typeface="IBM Plex Sans"/>
              </a:defRPr>
            </a:pPr>
            <a:endParaRPr lang="en-US"/>
          </a:p>
        </c:txPr>
        <c:crossAx val="2118791784"/>
        <c:crosses val="autoZero"/>
        <c:crossBetween val="between"/>
        <c:majorUnit val="0.01"/>
      </c:valAx>
    </c:plotArea>
    <c:legend>
      <c:legendPos val="t"/>
      <c:overlay val="0"/>
      <c:txPr>
        <a:bodyPr/>
        <a:lstStyle/>
        <a:p>
          <a:pPr>
            <a:defRPr sz="1200">
              <a:latin typeface="IBM Plex Sans"/>
            </a:defRPr>
          </a:pPr>
          <a:endParaRPr lang="en-US"/>
        </a:p>
      </c:txPr>
    </c:legend>
    <c:plotVisOnly val="1"/>
    <c:dispBlanksAs val="gap"/>
    <c:showDLblsOverMax val="0"/>
  </c:chart>
  <c:txPr>
    <a:bodyPr/>
    <a:lstStyle/>
    <a:p>
      <a:pPr>
        <a:defRPr sz="1200">
          <a:solidFill>
            <a:srgbClr val="4A5568"/>
          </a:solidFill>
          <a:latin typeface="IBM Plex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5423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assigned problem is number 10: take a Stanford CS229 report on IMDb sentiment classification, reproduce its results exactly, and then try to beat it. We did both — we matched its table and pushed its best accuracy from 90.6 percent up to 91.8 percent. I'm Arjun, with Vedaraj; I'll walk through the problem, data and method, Vedaraj will cover the nonlinear models and ensemble, and we'll finish with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goals. First, reproduce the paper's main results table exactly — not just in spirit. Second, scrutinise the methodology, because a reproduction forces you to read every detail. Third, actually beat its best accuracy of 90.6 percent on the identical test set, with no cheating on the test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same as the paper's: 50,000 reviews, split by the dataset authors into 25,000 train and 25,000 test, perfectly balanced. Only strongly-rated reviews are kept. The crucial structural fact is at the bottom: the train and test sets share exactly one movie, so at test time the model always faces movies it has never seen. Remember that — it drives our validation design two slides from now.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runs through the same pipeline. Clean the text; build one vocabulary of unigrams, bigrams and trigrams; then derive three feature matrices from that single vocabulary — binary presence, raw counts, and tf-idf. Because they share a vocabulary, the only thing that changes between representations is the cell values, so any difference is really about the representation. Those feed the six classifiers.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Here's the fact we flagged earlier paying off. Because test movies are unseen, a random validation split leaks. Leaky means the validation score is inflated by information the test set will not have: the same movie appears on both sides, and the model can memorise movie-specific words such as actor names. Naive Bayes scores 0.895 on a random split, 1.5 points above its real test accuracy of 0.880. The movie-grouped split gives 0.866, 1.4 points below: it is not closer, but it errs on the cautious side, so it never flatters a model. So we tune on a movie-grouped 20 percent, refit on everything, and touch the test set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reproduction. The three linear models — Logistic Regression, SVM, Naive Bayes — reproduce to within a third of a point on every one of the eighteen rows. Random Forest is about a point high. Boosting and the DNN run a point or so low, but only because we shrank their vocabulary to finish on a laptop; when we gave the binary DNN the full vocabulary it hit 0.9057, the paper's exact number. Vedaraj can speak to the nonlinear models in Q&amp;A.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Logistic Regression, the paper's first model. On all three representations our accuracy is within a third of a point of the paper's, and slightly above it. Binary features work best and tf-idf worst, the same order as in the paper. The confusion matrix is balanced: it makes about as many mistakes on positive reviews as on negative ones.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linear SVM. Again within a quarter of a point everywhere, and its best representation is tf-idf, as in the paper. The paper's SVM rows report C equal to 100 and 20, outside the grid it says it searched; we stayed inside that grid and still match. Errors are split evenly between the two classes.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Multinomial Naive Bayes. It is the weakest of the linear models, about two points behind, and we are a tenth of a point under the paper on each representation. Notice the confusion matrix is lopsided: it catches 92 percent of negative reviews but only 84 percent of positive ones. That asymmetry is also how we spotted that the paper's 'precision' columns are really recall.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Random Forest, the first of Vedaraj's nonlinear models. It cannot handle millions of features, so it uses n-grams that occur in at least five reviews. Even so it comes out about a point above the paper on every representation. It is still well behind the linear models, which is what the paper found too.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Gradient Boosting is the weakest model in the study, for the paper and for us. We trail by one to one and a half points, because it had to run on a much smaller vocabulary to finish on a laptop. The confusion matrix shows a strong bias toward predicting positive: it misses almost a quarter of the negative reviews.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paper's five-layer neural network, its best model at 90.6 percent. On the reduced vocabulary we get 89.9. When we gave the binary DNN the full 210,685-feature vocabulary it reached 0.9057, the paper's number, but that run took about ten minutes, so the reduced vocabulary explains the gap.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result, and the headline: we beat the paper. Our best single model, NB-LR, reaches 91.6 percent — a full point over the paper's 90.6. An ensemble of NB-LR and a tf-idf SVM reaches 91.8. Every number here is on the real test set, but every choice that produced them was made on validation data. Next: why these changes worked.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the classifiers we added to improve on the paper, all trained on the lighter cleaning that keeps negations, exclamation and question marks. The dashed line is the paper's best, 90.6 percent. NB-SVM and NB-LR clear it by a full point, the tf-idf SVM with a wider C grid by a third of a point, and the ensemble of NB-LR and the SVM reaches 91.8. Our wider MLP is the one that falls short, which is why we say the gains came from the features and not from a bigger network. The confusion matrix on the right is the ensemble's: its errors are almost evenly split.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changes, all cheap. One: NB-SVM and NB-LR — scale each feature by its Naive Bayes log-count ratio before fitting a linear model; worth about 1.3 points. Two: lighter cleaning that keeps negations like "not" and "no"; the full stop-word list throws those away and costs over a point. Three: a wider regularisation grid, since the paper stopped at C equals 1. Four: a simple ensemble. And notably, a bigger neural network did not help — the wins are from the features, not the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Third result: after the review we went further. Instead of counting n-grams, we fine-tuned two pretrained transformers. DistilBERT reaches 93.8 percent and RoBERTa-base 95.9 percent, more than five points above the paper's 90.6 and four above our best n-gram model. The 95 percent confidence interval for RoBERTa is 95.6 to 96.1, entirely above the paper. And a McNemar test on the same test reviews says the gain over NB-LR is not noise: p is about 10 to the minus 140. As before, the number of epochs was chosen on the movie-grouped validation split and the test set was scored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Why such a jump? Every model in the paper, and every one of our earlier improvements, treats a review as a bag of n-grams. That loses word order: not bad at all, or slow but worth it. A transformer reads the review in order, and RoBERTa starts from a language model pretrained on about 160 gigabytes of English, so it already knows what words mean before it sees a single labelled review. We only fine-tune it for two epochs. The chart puts every model on one axis with its confidence interval: grey is the paper's models as we reproduced them, light blue our n-gram improvements, dark blue the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Reproducing a paper means reading every number, and three things did not add up. One: the columns labelled precision match our per-class recall, not our precision, and the paper's own statement that accuracy is the average of the two is only true of recall. Two: two rows are internally impossible, for example an accuracy higher than both class scores. Three: the SVM rows use C of 100 and 20, which are not in the grid the paper says it searched.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a small Python package. The design decision that matters is runner.py: every experiment, reproduction or improvement, goes through the same loop, so no script can accidentally tune on the test set. Features are counted once and reused for all three representations. Everything uses one seed and writes a CSV, and each script has a quick mode for a one-minute smoke test.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follows the models. Arjun built the shared core and the linear half: Logistic Regression, SVM, Naive Bayes, then NB-SVM, the cleaning ablation and the Streamlit app. Vedaraj built the evaluation and plotting code and the nonlinear half: Random Forest, Boosting, the DNN, then the wider MLP, the ensemble and the notebook. The commit history shows each of us pushing our own part.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reproduced the table and beat the paper's best by a point with simple changes. We are careful about one claim: the ensemble's lead over NB-LR is 0.22 points and the standard error on 25,000 reviews is about 0.17, so we do not claim the ensemble is better than NB-LR, only that both clearly beat 90.6. Future work is a sequence model, which the paper itself names, and repeated runs for confidence intervals.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 streamlit run app/app.py from the repository root. The first prediction takes about 15 seconds while the vocabularies load, so trigger one before the panel is watching. Try a review with a negation, such as "not good at all", to show why keeping "not" matters, then open the Results vs paper view. Backup: the walkthrough notebook, Run All.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120074"/>
            <a:ext cx="10566425" cy="447000"/>
          </a:xfrm>
          <a:prstGeom prst="rect">
            <a:avLst/>
          </a:prstGeom>
          <a:noFill/>
          <a:ln/>
        </p:spPr>
        <p:txBody>
          <a:bodyPr wrap="square" lIns="0" tIns="0" rIns="0" bIns="0" rtlCol="0" anchor="t"/>
          <a:lstStyle>
            <a:lvl1pPr marL="0" indent="0" algn="l">
              <a:lnSpc>
                <a:spcPct val="115000"/>
              </a:lnSpc>
              <a:buNone/>
              <a:defRPr lang="en-US" sz="3200" dirty="0">
                <a:solidFill>
                  <a:srgbClr val="1C2541"/>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4" y="1871875"/>
            <a:ext cx="10566426" cy="4173325"/>
          </a:xfrm>
          <a:prstGeom prst="rect">
            <a:avLst/>
          </a:prstGeom>
          <a:noFill/>
          <a:ln/>
        </p:spPr>
        <p:txBody>
          <a:bodyPr wrap="square" lIns="0" tIns="0" rIns="0" bIns="0" rtlCol="0" anchor="t"/>
          <a:lstStyle>
            <a:lvl1pPr marL="0" indent="0" algn="l">
              <a:lnSpc>
                <a:spcPct val="140000"/>
              </a:lnSpc>
              <a:buNone/>
              <a:defRPr lang="en-US" sz="1600" dirty="0">
                <a:solidFill>
                  <a:srgbClr val="1C2541"/>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120074"/>
            <a:ext cx="10566425" cy="447000"/>
          </a:xfrm>
          <a:prstGeom prst="rect">
            <a:avLst/>
          </a:prstGeom>
          <a:noFill/>
          <a:ln/>
        </p:spPr>
        <p:txBody>
          <a:bodyPr wrap="square" lIns="0" tIns="0" rIns="0" bIns="0" rtlCol="0" anchor="t"/>
          <a:lstStyle>
            <a:lvl1pPr marL="0" indent="0" algn="l">
              <a:lnSpc>
                <a:spcPct val="115000"/>
              </a:lnSpc>
              <a:buNone/>
              <a:defRPr lang="en-US" sz="3200" dirty="0">
                <a:solidFill>
                  <a:srgbClr val="1C2541"/>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4" y="1871875"/>
            <a:ext cx="10566426" cy="4173325"/>
          </a:xfrm>
          <a:prstGeom prst="rect">
            <a:avLst/>
          </a:prstGeom>
          <a:noFill/>
          <a:ln/>
        </p:spPr>
        <p:txBody>
          <a:bodyPr wrap="square" lIns="0" tIns="0" rIns="0" bIns="0" rtlCol="0" anchor="t"/>
          <a:lstStyle>
            <a:lvl1pPr marL="0" indent="0" algn="l">
              <a:lnSpc>
                <a:spcPct val="140000"/>
              </a:lnSpc>
              <a:buNone/>
              <a:defRPr lang="en-US" sz="1600" dirty="0">
                <a:solidFill>
                  <a:srgbClr val="1C2541"/>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41"/>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UE24CS352A · MACHINE LEARNING MINI-PROJECT · PROBLEM 10</a:t>
            </a:r>
            <a:endParaRPr lang="en-US" sz="1300" dirty="0"/>
          </a:p>
        </p:txBody>
      </p:sp>
      <p:sp>
        <p:nvSpPr>
          <p:cNvPr id="3" name="Text 1"/>
          <p:cNvSpPr>
            <a:spLocks noGrp="1"/>
          </p:cNvSpPr>
          <p:nvPr>
            <p:ph type="title"/>
          </p:nvPr>
        </p:nvSpPr>
        <p:spPr>
          <a:xfrm>
            <a:off x="812774" y="2250508"/>
            <a:ext cx="10883418" cy="1572258"/>
          </a:xfrm>
          <a:prstGeom prst="rect">
            <a:avLst/>
          </a:prstGeom>
          <a:noFill/>
          <a:ln/>
        </p:spPr>
        <p:txBody>
          <a:bodyPr wrap="square" lIns="0" tIns="0" rIns="0" bIns="0" rtlCol="0" anchor="t">
            <a:normAutofit/>
          </a:bodyPr>
          <a:lstStyle/>
          <a:p>
            <a:pPr marL="0" indent="0" algn="l">
              <a:lnSpc>
                <a:spcPts val="6090"/>
              </a:lnSpc>
              <a:buNone/>
            </a:pPr>
            <a:r>
              <a:rPr lang="en-US" sz="5800" b="1" i="0" dirty="0">
                <a:solidFill>
                  <a:srgbClr val="FBFBF8"/>
                </a:solidFill>
                <a:latin typeface="Source Serif 4" pitchFamily="18" charset="0"/>
                <a:ea typeface="Source Serif 4" pitchFamily="18" charset="-122"/>
                <a:cs typeface="Source Serif 4" pitchFamily="18" charset="-120"/>
              </a:rPr>
              <a:t>Sentiment Analysis</a:t>
            </a:r>
            <a:endParaRPr lang="en-US" sz="5800" dirty="0"/>
          </a:p>
          <a:p>
            <a:pPr marL="0" indent="0" algn="l">
              <a:lnSpc>
                <a:spcPts val="6090"/>
              </a:lnSpc>
              <a:buNone/>
            </a:pPr>
            <a:r>
              <a:rPr lang="en-US" sz="5800" b="1" i="0" dirty="0">
                <a:solidFill>
                  <a:srgbClr val="FBFBF8"/>
                </a:solidFill>
                <a:latin typeface="Source Serif 4" pitchFamily="18" charset="0"/>
                <a:ea typeface="Source Serif 4" pitchFamily="18" charset="-122"/>
                <a:cs typeface="Source Serif 4" pitchFamily="18" charset="-120"/>
              </a:rPr>
              <a:t>of IMDb Reviews</a:t>
            </a:r>
            <a:endParaRPr lang="en-US" sz="5800" dirty="0"/>
          </a:p>
        </p:txBody>
      </p:sp>
      <p:sp>
        <p:nvSpPr>
          <p:cNvPr id="4" name="Text 2"/>
          <p:cNvSpPr/>
          <p:nvPr/>
        </p:nvSpPr>
        <p:spPr>
          <a:xfrm>
            <a:off x="812774" y="3975108"/>
            <a:ext cx="10883418" cy="375885"/>
          </a:xfrm>
          <a:prstGeom prst="rect">
            <a:avLst/>
          </a:prstGeom>
          <a:noFill/>
          <a:ln/>
        </p:spPr>
        <p:txBody>
          <a:bodyPr wrap="square" lIns="0" tIns="0" rIns="0" bIns="0" rtlCol="0" anchor="t">
            <a:normAutofit/>
          </a:bodyPr>
          <a:lstStyle/>
          <a:p>
            <a:pPr marL="0" indent="0" algn="l">
              <a:lnSpc>
                <a:spcPts val="2760"/>
              </a:lnSpc>
              <a:buNone/>
            </a:pPr>
            <a:r>
              <a:rPr lang="en-US" sz="2300" dirty="0">
                <a:solidFill>
                  <a:srgbClr val="AEC0D6"/>
                </a:solidFill>
                <a:latin typeface="Source Serif 4" pitchFamily="18" charset="0"/>
                <a:ea typeface="Source Serif 4" pitchFamily="18" charset="-122"/>
                <a:cs typeface="Source Serif 4" pitchFamily="18" charset="-120"/>
              </a:rPr>
              <a:t>Reproducing — and improving on — a Stanford CS229 study</a:t>
            </a:r>
            <a:endParaRPr lang="en-US" sz="2300" dirty="0"/>
          </a:p>
        </p:txBody>
      </p:sp>
      <p:sp>
        <p:nvSpPr>
          <p:cNvPr id="5" name="Text 3"/>
          <p:cNvSpPr/>
          <p:nvPr/>
        </p:nvSpPr>
        <p:spPr>
          <a:xfrm>
            <a:off x="812774" y="5532182"/>
            <a:ext cx="4306095"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Arjun G Kanagal  ·  Vedaraj H R</a:t>
            </a:r>
            <a:endParaRPr lang="en-US" sz="1400" dirty="0"/>
          </a:p>
        </p:txBody>
      </p:sp>
      <p:sp>
        <p:nvSpPr>
          <p:cNvPr id="6" name="Text 4"/>
          <p:cNvSpPr/>
          <p:nvPr/>
        </p:nvSpPr>
        <p:spPr>
          <a:xfrm>
            <a:off x="812774" y="5831873"/>
            <a:ext cx="5016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C0D6"/>
                </a:solidFill>
                <a:latin typeface="IBM Plex Sans" pitchFamily="34" charset="0"/>
                <a:ea typeface="IBM Plex Sans" pitchFamily="34" charset="-122"/>
                <a:cs typeface="IBM Plex Sans" pitchFamily="34" charset="-120"/>
              </a:rPr>
              <a:t>Team of two · Large Movie Review Dataset (Maas et al., 2011)</a:t>
            </a:r>
            <a:endParaRPr lang="en-US" sz="1200" dirty="0"/>
          </a:p>
        </p:txBody>
      </p:sp>
      <p:sp>
        <p:nvSpPr>
          <p:cNvPr id="7" name="Text 5"/>
          <p:cNvSpPr/>
          <p:nvPr/>
        </p:nvSpPr>
        <p:spPr>
          <a:xfrm>
            <a:off x="9234408" y="5549934"/>
            <a:ext cx="2573748" cy="25654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77D34"/>
                </a:solidFill>
                <a:latin typeface="IBM Plex Sans" pitchFamily="34" charset="0"/>
                <a:ea typeface="IBM Plex Sans" pitchFamily="34" charset="-122"/>
                <a:cs typeface="IBM Plex Sans" pitchFamily="34" charset="-120"/>
              </a:rPr>
              <a:t>Paper 90.6% → Ours 91.8%</a:t>
            </a:r>
            <a:endParaRPr lang="en-US" sz="1300" dirty="0"/>
          </a:p>
        </p:txBody>
      </p:sp>
      <p:sp>
        <p:nvSpPr>
          <p:cNvPr id="8" name="Text 6"/>
          <p:cNvSpPr/>
          <p:nvPr/>
        </p:nvSpPr>
        <p:spPr>
          <a:xfrm>
            <a:off x="10236316" y="5831873"/>
            <a:ext cx="114288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EC0D6"/>
                </a:solidFill>
                <a:latin typeface="IBM Plex Sans" pitchFamily="34" charset="0"/>
                <a:ea typeface="IBM Plex Sans" pitchFamily="34" charset="-122"/>
                <a:cs typeface="IBM Plex Sans" pitchFamily="34"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PROBLEM STATEMENT</a:t>
            </a:r>
            <a:endParaRPr lang="en-US" sz="1300" dirty="0"/>
          </a:p>
        </p:txBody>
      </p:sp>
      <p:sp>
        <p:nvSpPr>
          <p:cNvPr id="3" name="Text 1"/>
          <p:cNvSpPr>
            <a:spLocks noGrp="1"/>
          </p:cNvSpPr>
          <p:nvPr>
            <p:ph type="title"/>
          </p:nvPr>
        </p:nvSpPr>
        <p:spPr>
          <a:xfrm>
            <a:off x="812774" y="1120073"/>
            <a:ext cx="10883418" cy="472400"/>
          </a:xfrm>
          <a:prstGeom prst="rect">
            <a:avLst/>
          </a:prstGeom>
          <a:noFill/>
          <a:ln/>
        </p:spPr>
        <p:txBody>
          <a:bodyPr wrap="square" lIns="0" tIns="0" rIns="0" bIns="0" rtlCol="0" anchor="t">
            <a:normAutofit/>
          </a:bodyPr>
          <a:lstStyle/>
          <a:p>
            <a:pPr marL="0" indent="0" algn="l">
              <a:lnSpc>
                <a:spcPts val="3520"/>
              </a:lnSpc>
              <a:buNone/>
            </a:pPr>
            <a:r>
              <a:rPr lang="en-US" sz="3200" dirty="0"/>
              <a:t>Classification for sentiment analysis of IMDb reviews</a:t>
            </a:r>
          </a:p>
        </p:txBody>
      </p:sp>
      <p:sp>
        <p:nvSpPr>
          <p:cNvPr id="4" name="Shape 2"/>
          <p:cNvSpPr/>
          <p:nvPr/>
        </p:nvSpPr>
        <p:spPr>
          <a:xfrm>
            <a:off x="815949" y="1875012"/>
            <a:ext cx="10560075" cy="1693251"/>
          </a:xfrm>
          <a:prstGeom prst="roundRect">
            <a:avLst>
              <a:gd name="adj" fmla="val 5063"/>
            </a:avLst>
          </a:prstGeom>
          <a:solidFill>
            <a:srgbClr val="FFFFFF"/>
          </a:solidFill>
          <a:ln w="6350">
            <a:solidFill>
              <a:srgbClr val="DDE3EC"/>
            </a:solidFill>
            <a:prstDash val="solid"/>
          </a:ln>
        </p:spPr>
      </p:sp>
      <p:sp>
        <p:nvSpPr>
          <p:cNvPr id="5" name="Text 3"/>
          <p:cNvSpPr/>
          <p:nvPr/>
        </p:nvSpPr>
        <p:spPr>
          <a:xfrm>
            <a:off x="1096741" y="2130444"/>
            <a:ext cx="10298445" cy="60840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C2541"/>
                </a:solidFill>
                <a:latin typeface="IBM Plex Sans" pitchFamily="34" charset="0"/>
                <a:ea typeface="IBM Plex Sans" pitchFamily="34" charset="-122"/>
                <a:cs typeface="IBM Plex Sans" pitchFamily="34" charset="-120"/>
              </a:rPr>
              <a:t>Wu &amp; Shin (Stanford CS229) — </a:t>
            </a:r>
            <a:r>
              <a:rPr lang="en-US" sz="1700" i="1" dirty="0">
                <a:solidFill>
                  <a:srgbClr val="1C2541"/>
                </a:solidFill>
                <a:latin typeface="IBM Plex Sans" pitchFamily="34" charset="0"/>
                <a:ea typeface="IBM Plex Sans" pitchFamily="34" charset="-122"/>
                <a:cs typeface="IBM Plex Sans" pitchFamily="34" charset="-120"/>
              </a:rPr>
              <a:t>“Machine Learning based classification for Sentimental analysis of IMDb reviews.”</a:t>
            </a:r>
            <a:endParaRPr lang="en-US" sz="1700" dirty="0"/>
          </a:p>
        </p:txBody>
      </p:sp>
      <p:sp>
        <p:nvSpPr>
          <p:cNvPr id="6" name="Text 4"/>
          <p:cNvSpPr/>
          <p:nvPr/>
        </p:nvSpPr>
        <p:spPr>
          <a:xfrm>
            <a:off x="1096741" y="2815049"/>
            <a:ext cx="10298445" cy="52318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Classify reviews as positive or negative using </a:t>
            </a:r>
            <a:r>
              <a:rPr lang="en-US" sz="1400" b="1" dirty="0">
                <a:solidFill>
                  <a:srgbClr val="4A5568"/>
                </a:solidFill>
                <a:latin typeface="IBM Plex Sans" pitchFamily="34" charset="0"/>
                <a:ea typeface="IBM Plex Sans" pitchFamily="34" charset="-122"/>
                <a:cs typeface="IBM Plex Sans" pitchFamily="34" charset="-120"/>
              </a:rPr>
              <a:t>3 text representations</a:t>
            </a:r>
            <a:r>
              <a:rPr lang="en-US" sz="1400" dirty="0">
                <a:solidFill>
                  <a:srgbClr val="4A5568"/>
                </a:solidFill>
                <a:latin typeface="IBM Plex Sans" pitchFamily="34" charset="0"/>
                <a:ea typeface="IBM Plex Sans" pitchFamily="34" charset="-122"/>
                <a:cs typeface="IBM Plex Sans" pitchFamily="34" charset="-120"/>
              </a:rPr>
              <a:t> (binary, word count, tf-idf over n-grams) and </a:t>
            </a:r>
            <a:r>
              <a:rPr lang="en-US" sz="1400" b="1" dirty="0">
                <a:solidFill>
                  <a:srgbClr val="4A5568"/>
                </a:solidFill>
                <a:latin typeface="IBM Plex Sans" pitchFamily="34" charset="0"/>
                <a:ea typeface="IBM Plex Sans" pitchFamily="34" charset="-122"/>
                <a:cs typeface="IBM Plex Sans" pitchFamily="34" charset="-120"/>
              </a:rPr>
              <a:t>6 models</a:t>
            </a:r>
            <a:r>
              <a:rPr lang="en-US" sz="1400" dirty="0">
                <a:solidFill>
                  <a:srgbClr val="4A5568"/>
                </a:solidFill>
                <a:latin typeface="IBM Plex Sans" pitchFamily="34" charset="0"/>
                <a:ea typeface="IBM Plex Sans" pitchFamily="34" charset="-122"/>
                <a:cs typeface="IBM Plex Sans" pitchFamily="34" charset="-120"/>
              </a:rPr>
              <a:t> (Logistic Regression, SVM, Naive Bayes, Random Forest, Boosting, DNN). Its best accuracy: </a:t>
            </a:r>
            <a:r>
              <a:rPr lang="en-US" sz="1400" b="1" dirty="0">
                <a:solidFill>
                  <a:srgbClr val="4A5568"/>
                </a:solidFill>
                <a:latin typeface="IBM Plex Sans" pitchFamily="34" charset="0"/>
                <a:ea typeface="IBM Plex Sans" pitchFamily="34" charset="-122"/>
                <a:cs typeface="IBM Plex Sans" pitchFamily="34" charset="-120"/>
              </a:rPr>
              <a:t>90.6%</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7" name="Shape 5"/>
          <p:cNvSpPr/>
          <p:nvPr/>
        </p:nvSpPr>
        <p:spPr>
          <a:xfrm>
            <a:off x="812774" y="3876201"/>
            <a:ext cx="3403622" cy="1262166"/>
          </a:xfrm>
          <a:prstGeom prst="roundRect">
            <a:avLst>
              <a:gd name="adj" fmla="val 7043"/>
            </a:avLst>
          </a:prstGeom>
          <a:solidFill>
            <a:srgbClr val="EEF1F6"/>
          </a:solidFill>
          <a:ln/>
        </p:spPr>
      </p:sp>
      <p:sp>
        <p:nvSpPr>
          <p:cNvPr id="8" name="Text 6"/>
          <p:cNvSpPr/>
          <p:nvPr/>
        </p:nvSpPr>
        <p:spPr>
          <a:xfrm>
            <a:off x="1015949" y="4104737"/>
            <a:ext cx="3087190"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D8C"/>
                </a:solidFill>
                <a:latin typeface="IBM Plex Sans" pitchFamily="34" charset="0"/>
                <a:ea typeface="IBM Plex Sans" pitchFamily="34" charset="-122"/>
                <a:cs typeface="IBM Plex Sans" pitchFamily="34" charset="-120"/>
              </a:rPr>
              <a:t>1   Reproduce</a:t>
            </a:r>
            <a:endParaRPr lang="en-US" sz="1500" dirty="0"/>
          </a:p>
        </p:txBody>
      </p:sp>
      <p:sp>
        <p:nvSpPr>
          <p:cNvPr id="9" name="Text 7"/>
          <p:cNvSpPr/>
          <p:nvPr/>
        </p:nvSpPr>
        <p:spPr>
          <a:xfrm>
            <a:off x="1015949" y="4447542"/>
            <a:ext cx="3087190"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Rebuild the paper's Table 2 from scratch.</a:t>
            </a:r>
            <a:endParaRPr lang="en-US" sz="1300" dirty="0"/>
          </a:p>
        </p:txBody>
      </p:sp>
      <p:sp>
        <p:nvSpPr>
          <p:cNvPr id="10" name="Shape 8"/>
          <p:cNvSpPr/>
          <p:nvPr/>
        </p:nvSpPr>
        <p:spPr>
          <a:xfrm>
            <a:off x="4394139" y="3876201"/>
            <a:ext cx="3403695" cy="1262166"/>
          </a:xfrm>
          <a:prstGeom prst="roundRect">
            <a:avLst>
              <a:gd name="adj" fmla="val 7043"/>
            </a:avLst>
          </a:prstGeom>
          <a:solidFill>
            <a:srgbClr val="EEF1F6"/>
          </a:solidFill>
          <a:ln/>
        </p:spPr>
      </p:sp>
      <p:sp>
        <p:nvSpPr>
          <p:cNvPr id="11" name="Text 9"/>
          <p:cNvSpPr/>
          <p:nvPr/>
        </p:nvSpPr>
        <p:spPr>
          <a:xfrm>
            <a:off x="4597314" y="4104737"/>
            <a:ext cx="3087265"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D8C"/>
                </a:solidFill>
                <a:latin typeface="IBM Plex Sans" pitchFamily="34" charset="0"/>
                <a:ea typeface="IBM Plex Sans" pitchFamily="34" charset="-122"/>
                <a:cs typeface="IBM Plex Sans" pitchFamily="34" charset="-120"/>
              </a:rPr>
              <a:t>2   Scrutinise</a:t>
            </a:r>
            <a:endParaRPr lang="en-US" sz="1500" dirty="0"/>
          </a:p>
        </p:txBody>
      </p:sp>
      <p:sp>
        <p:nvSpPr>
          <p:cNvPr id="12" name="Text 10"/>
          <p:cNvSpPr/>
          <p:nvPr/>
        </p:nvSpPr>
        <p:spPr>
          <a:xfrm>
            <a:off x="4597314" y="4447542"/>
            <a:ext cx="3200519"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Check its methodology and its numbers.</a:t>
            </a:r>
            <a:endParaRPr lang="en-US" sz="1300" dirty="0"/>
          </a:p>
        </p:txBody>
      </p:sp>
      <p:sp>
        <p:nvSpPr>
          <p:cNvPr id="13" name="Shape 11"/>
          <p:cNvSpPr/>
          <p:nvPr/>
        </p:nvSpPr>
        <p:spPr>
          <a:xfrm>
            <a:off x="7975576" y="3876201"/>
            <a:ext cx="3403622" cy="1262166"/>
          </a:xfrm>
          <a:prstGeom prst="roundRect">
            <a:avLst>
              <a:gd name="adj" fmla="val 7043"/>
            </a:avLst>
          </a:prstGeom>
          <a:solidFill>
            <a:srgbClr val="1C2541"/>
          </a:solidFill>
          <a:ln/>
        </p:spPr>
      </p:sp>
      <p:sp>
        <p:nvSpPr>
          <p:cNvPr id="14" name="Text 12"/>
          <p:cNvSpPr/>
          <p:nvPr/>
        </p:nvSpPr>
        <p:spPr>
          <a:xfrm>
            <a:off x="8178752" y="4104737"/>
            <a:ext cx="3087190"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77D34"/>
                </a:solidFill>
                <a:latin typeface="IBM Plex Sans" pitchFamily="34" charset="0"/>
                <a:ea typeface="IBM Plex Sans" pitchFamily="34" charset="-122"/>
                <a:cs typeface="IBM Plex Sans" pitchFamily="34" charset="-120"/>
              </a:rPr>
              <a:t>3   Improve</a:t>
            </a:r>
            <a:endParaRPr lang="en-US" sz="1500" dirty="0"/>
          </a:p>
        </p:txBody>
      </p:sp>
      <p:sp>
        <p:nvSpPr>
          <p:cNvPr id="15" name="Text 13"/>
          <p:cNvSpPr/>
          <p:nvPr/>
        </p:nvSpPr>
        <p:spPr>
          <a:xfrm>
            <a:off x="8178752" y="4447542"/>
            <a:ext cx="3087190"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C0D6"/>
                </a:solidFill>
                <a:latin typeface="IBM Plex Sans" pitchFamily="34" charset="0"/>
                <a:ea typeface="IBM Plex Sans" pitchFamily="34" charset="-122"/>
                <a:cs typeface="IBM Plex Sans" pitchFamily="34" charset="-120"/>
              </a:rPr>
              <a:t>Beat 90.6% on the same test set.</a:t>
            </a:r>
            <a:endParaRPr lang="en-US" sz="1300" dirty="0"/>
          </a:p>
        </p:txBody>
      </p:sp>
      <p:sp>
        <p:nvSpPr>
          <p:cNvPr id="16" name="Text 4">
            <a:extLst>
              <a:ext uri="{FF2B5EF4-FFF2-40B4-BE49-F238E27FC236}">
                <a16:creationId xmlns:a16="http://schemas.microsoft.com/office/drawing/2014/main" id="{A54C512D-D096-DC8E-C706-8D2E30E914EA}"/>
              </a:ext>
            </a:extLst>
          </p:cNvPr>
          <p:cNvSpPr/>
          <p:nvPr/>
        </p:nvSpPr>
        <p:spPr>
          <a:xfrm>
            <a:off x="812799" y="5435600"/>
            <a:ext cx="10566400" cy="523182"/>
          </a:xfrm>
          <a:prstGeom prst="rect">
            <a:avLst/>
          </a:prstGeom>
          <a:noFill/>
          <a:ln/>
        </p:spPr>
        <p:txBody>
          <a:bodyPr wrap="square" lIns="0" tIns="0" rIns="0" bIns="0" rtlCol="0" anchor="t">
            <a:normAutofit/>
          </a:bodyPr>
          <a:lstStyle/>
          <a:p>
            <a:pPr marL="0" indent="0" algn="l">
              <a:lnSpc>
                <a:spcPts val="1960"/>
              </a:lnSpc>
              <a:buNone/>
            </a:pPr>
            <a:r>
              <a:rPr lang="en-GB" sz="1400" b="1">
                <a:solidFill>
                  <a:srgbClr val="4A5568"/>
                </a:solidFill>
                <a:latin typeface="IBM Plex Sans" pitchFamily="34" charset="0"/>
                <a:ea typeface="IBM Plex Sans" pitchFamily="34" charset="-122"/>
                <a:cs typeface="IBM Plex Sans" pitchFamily="34" charset="-120"/>
              </a:rPr>
              <a:t>What is sentiment analysis?</a:t>
            </a:r>
            <a:r>
              <a:rPr lang="en-GB" sz="1400">
                <a:solidFill>
                  <a:srgbClr val="4A5568"/>
                </a:solidFill>
                <a:latin typeface="IBM Plex Sans" pitchFamily="34" charset="0"/>
                <a:ea typeface="IBM Plex Sans" pitchFamily="34" charset="-122"/>
                <a:cs typeface="IBM Plex Sans" pitchFamily="34" charset="-120"/>
              </a:rPr>
              <a:t> Deciding whether a text expresses a positive or a negative opinion. Here every text is an IMDb movie review and there are exactly two classes, positive and negative; there is no neutral class.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THE DATASET</a:t>
            </a:r>
            <a:endParaRPr lang="en-US" sz="1300" dirty="0"/>
          </a:p>
        </p:txBody>
      </p:sp>
      <p:sp>
        <p:nvSpPr>
          <p:cNvPr id="3" name="Text 1"/>
          <p:cNvSpPr>
            <a:spLocks noGrp="1"/>
          </p:cNvSpPr>
          <p:nvPr>
            <p:ph type="title"/>
          </p:nvPr>
        </p:nvSpPr>
        <p:spPr>
          <a:xfrm>
            <a:off x="812774" y="1120073"/>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Large Movie Review Dataset v1.0</a:t>
            </a:r>
            <a:endParaRPr lang="en-US" sz="3200" dirty="0"/>
          </a:p>
        </p:txBody>
      </p:sp>
      <p:sp>
        <p:nvSpPr>
          <p:cNvPr id="4" name="Shape 2"/>
          <p:cNvSpPr/>
          <p:nvPr/>
        </p:nvSpPr>
        <p:spPr>
          <a:xfrm>
            <a:off x="815949" y="1849579"/>
            <a:ext cx="3397272" cy="1315884"/>
          </a:xfrm>
          <a:prstGeom prst="roundRect">
            <a:avLst>
              <a:gd name="adj" fmla="val 6515"/>
            </a:avLst>
          </a:prstGeom>
          <a:solidFill>
            <a:srgbClr val="FFFFFF"/>
          </a:solidFill>
          <a:ln w="6350">
            <a:solidFill>
              <a:srgbClr val="DDE3EC"/>
            </a:solidFill>
            <a:prstDash val="solid"/>
          </a:ln>
        </p:spPr>
      </p:sp>
      <p:sp>
        <p:nvSpPr>
          <p:cNvPr id="5" name="Text 3"/>
          <p:cNvSpPr/>
          <p:nvPr/>
        </p:nvSpPr>
        <p:spPr>
          <a:xfrm>
            <a:off x="1045947" y="2079577"/>
            <a:ext cx="3025394" cy="612102"/>
          </a:xfrm>
          <a:prstGeom prst="rect">
            <a:avLst/>
          </a:prstGeom>
          <a:noFill/>
          <a:ln/>
        </p:spPr>
        <p:txBody>
          <a:bodyPr wrap="square" lIns="0" tIns="0" rIns="0" bIns="0" rtlCol="0" anchor="t">
            <a:normAutofit/>
          </a:bodyPr>
          <a:lstStyle/>
          <a:p>
            <a:pPr marL="0" indent="0" algn="l">
              <a:lnSpc>
                <a:spcPts val="4620"/>
              </a:lnSpc>
              <a:buNone/>
            </a:pPr>
            <a:r>
              <a:rPr lang="en-US" sz="3300" b="1" dirty="0">
                <a:solidFill>
                  <a:srgbClr val="2F5D8C"/>
                </a:solidFill>
                <a:latin typeface="Source Serif 4" pitchFamily="18" charset="0"/>
                <a:ea typeface="Source Serif 4" pitchFamily="18" charset="-122"/>
                <a:cs typeface="Source Serif 4" pitchFamily="18" charset="-120"/>
              </a:rPr>
              <a:t>50,000</a:t>
            </a:r>
            <a:endParaRPr lang="en-US" sz="3300" dirty="0"/>
          </a:p>
        </p:txBody>
      </p:sp>
      <p:sp>
        <p:nvSpPr>
          <p:cNvPr id="6" name="Text 4"/>
          <p:cNvSpPr/>
          <p:nvPr/>
        </p:nvSpPr>
        <p:spPr>
          <a:xfrm>
            <a:off x="1045947" y="2704320"/>
            <a:ext cx="3025394"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labelled reviews</a:t>
            </a:r>
            <a:endParaRPr lang="en-US" sz="1300" dirty="0"/>
          </a:p>
        </p:txBody>
      </p:sp>
      <p:sp>
        <p:nvSpPr>
          <p:cNvPr id="7" name="Shape 5"/>
          <p:cNvSpPr/>
          <p:nvPr/>
        </p:nvSpPr>
        <p:spPr>
          <a:xfrm>
            <a:off x="4388688" y="1840953"/>
            <a:ext cx="3397345" cy="1315884"/>
          </a:xfrm>
          <a:prstGeom prst="roundRect">
            <a:avLst>
              <a:gd name="adj" fmla="val 6515"/>
            </a:avLst>
          </a:prstGeom>
          <a:solidFill>
            <a:srgbClr val="FFFFFF"/>
          </a:solidFill>
          <a:ln w="6350">
            <a:solidFill>
              <a:srgbClr val="DDE3EC"/>
            </a:solidFill>
            <a:prstDash val="solid"/>
          </a:ln>
        </p:spPr>
      </p:sp>
      <p:sp>
        <p:nvSpPr>
          <p:cNvPr id="8" name="Text 6"/>
          <p:cNvSpPr/>
          <p:nvPr/>
        </p:nvSpPr>
        <p:spPr>
          <a:xfrm>
            <a:off x="4627313" y="2079577"/>
            <a:ext cx="3025469" cy="612102"/>
          </a:xfrm>
          <a:prstGeom prst="rect">
            <a:avLst/>
          </a:prstGeom>
          <a:noFill/>
          <a:ln/>
        </p:spPr>
        <p:txBody>
          <a:bodyPr wrap="square" lIns="0" tIns="0" rIns="0" bIns="0" rtlCol="0" anchor="t">
            <a:normAutofit/>
          </a:bodyPr>
          <a:lstStyle/>
          <a:p>
            <a:pPr marL="0" indent="0" algn="l">
              <a:lnSpc>
                <a:spcPts val="4620"/>
              </a:lnSpc>
              <a:buNone/>
            </a:pPr>
            <a:r>
              <a:rPr lang="en-US" sz="3300" b="1" dirty="0">
                <a:solidFill>
                  <a:srgbClr val="2F5D8C"/>
                </a:solidFill>
                <a:latin typeface="Source Serif 4" pitchFamily="18" charset="0"/>
                <a:ea typeface="Source Serif 4" pitchFamily="18" charset="-122"/>
                <a:cs typeface="Source Serif 4" pitchFamily="18" charset="-120"/>
              </a:rPr>
              <a:t>25k / 25k</a:t>
            </a:r>
            <a:endParaRPr lang="en-US" sz="3300" dirty="0"/>
          </a:p>
        </p:txBody>
      </p:sp>
      <p:sp>
        <p:nvSpPr>
          <p:cNvPr id="9" name="Text 7"/>
          <p:cNvSpPr/>
          <p:nvPr/>
        </p:nvSpPr>
        <p:spPr>
          <a:xfrm>
            <a:off x="4627313" y="2704320"/>
            <a:ext cx="3025469"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fixed train / test split</a:t>
            </a:r>
            <a:endParaRPr lang="en-US" sz="1300" dirty="0"/>
          </a:p>
        </p:txBody>
      </p:sp>
      <p:sp>
        <p:nvSpPr>
          <p:cNvPr id="10" name="Shape 8"/>
          <p:cNvSpPr/>
          <p:nvPr/>
        </p:nvSpPr>
        <p:spPr>
          <a:xfrm>
            <a:off x="7978751" y="1849579"/>
            <a:ext cx="3397272" cy="1315884"/>
          </a:xfrm>
          <a:prstGeom prst="roundRect">
            <a:avLst>
              <a:gd name="adj" fmla="val 6515"/>
            </a:avLst>
          </a:prstGeom>
          <a:solidFill>
            <a:srgbClr val="FFFFFF"/>
          </a:solidFill>
          <a:ln w="6350">
            <a:solidFill>
              <a:srgbClr val="DDE3EC"/>
            </a:solidFill>
            <a:prstDash val="solid"/>
          </a:ln>
        </p:spPr>
      </p:sp>
      <p:sp>
        <p:nvSpPr>
          <p:cNvPr id="11" name="Text 9"/>
          <p:cNvSpPr/>
          <p:nvPr/>
        </p:nvSpPr>
        <p:spPr>
          <a:xfrm>
            <a:off x="8208750" y="2079577"/>
            <a:ext cx="3025394" cy="612102"/>
          </a:xfrm>
          <a:prstGeom prst="rect">
            <a:avLst/>
          </a:prstGeom>
          <a:noFill/>
          <a:ln/>
        </p:spPr>
        <p:txBody>
          <a:bodyPr wrap="square" lIns="0" tIns="0" rIns="0" bIns="0" rtlCol="0" anchor="t">
            <a:normAutofit/>
          </a:bodyPr>
          <a:lstStyle/>
          <a:p>
            <a:pPr marL="0" indent="0" algn="l">
              <a:lnSpc>
                <a:spcPts val="4620"/>
              </a:lnSpc>
              <a:buNone/>
            </a:pPr>
            <a:r>
              <a:rPr lang="en-US" sz="3300" b="1" dirty="0">
                <a:solidFill>
                  <a:srgbClr val="2F5D8C"/>
                </a:solidFill>
                <a:latin typeface="Source Serif 4" pitchFamily="18" charset="0"/>
                <a:ea typeface="Source Serif 4" pitchFamily="18" charset="-122"/>
                <a:cs typeface="Source Serif 4" pitchFamily="18" charset="-120"/>
              </a:rPr>
              <a:t>50 / 50</a:t>
            </a:r>
            <a:endParaRPr lang="en-US" sz="3300" dirty="0"/>
          </a:p>
        </p:txBody>
      </p:sp>
      <p:sp>
        <p:nvSpPr>
          <p:cNvPr id="12" name="Text 10"/>
          <p:cNvSpPr/>
          <p:nvPr/>
        </p:nvSpPr>
        <p:spPr>
          <a:xfrm>
            <a:off x="8208750" y="2704320"/>
            <a:ext cx="3025394"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positive / negative balance</a:t>
            </a:r>
            <a:endParaRPr lang="en-US" sz="1300" dirty="0"/>
          </a:p>
        </p:txBody>
      </p:sp>
      <p:sp>
        <p:nvSpPr>
          <p:cNvPr id="13" name="Text 11"/>
          <p:cNvSpPr/>
          <p:nvPr/>
        </p:nvSpPr>
        <p:spPr>
          <a:xfrm>
            <a:off x="858875" y="3447968"/>
            <a:ext cx="10830459" cy="936646"/>
          </a:xfrm>
          <a:prstGeom prst="rect">
            <a:avLst/>
          </a:prstGeom>
          <a:noFill/>
          <a:ln/>
        </p:spPr>
        <p:txBody>
          <a:bodyPr wrap="square" lIns="0" tIns="0" rIns="0" bIns="0" rtlCol="0" anchor="t">
            <a:normAutofit/>
          </a:bodyPr>
          <a:lstStyle/>
          <a:p>
            <a:pPr marL="182499" indent="-182499" algn="l">
              <a:lnSpc>
                <a:spcPts val="2392"/>
              </a:lnSpc>
              <a:buSzPct val="100000"/>
              <a:buChar char="•"/>
            </a:pPr>
            <a:r>
              <a:rPr lang="en-US" sz="1450" dirty="0">
                <a:solidFill>
                  <a:srgbClr val="1C2541"/>
                </a:solidFill>
                <a:latin typeface="IBM Plex Sans" pitchFamily="34" charset="0"/>
                <a:ea typeface="IBM Plex Sans" pitchFamily="34" charset="-122"/>
                <a:cs typeface="IBM Plex Sans" pitchFamily="34" charset="-120"/>
              </a:rPr>
              <a:t>Negative if the rating is </a:t>
            </a:r>
            <a:r>
              <a:rPr lang="en-US" sz="1450" b="1" dirty="0">
                <a:solidFill>
                  <a:srgbClr val="1C2541"/>
                </a:solidFill>
                <a:latin typeface="IBM Plex Sans" pitchFamily="34" charset="0"/>
                <a:ea typeface="IBM Plex Sans" pitchFamily="34" charset="-122"/>
                <a:cs typeface="IBM Plex Sans" pitchFamily="34" charset="-120"/>
              </a:rPr>
              <a:t>≤ 4</a:t>
            </a:r>
            <a:r>
              <a:rPr lang="en-US" sz="1450" dirty="0">
                <a:solidFill>
                  <a:srgbClr val="1C2541"/>
                </a:solidFill>
                <a:latin typeface="IBM Plex Sans" pitchFamily="34" charset="0"/>
                <a:ea typeface="IBM Plex Sans" pitchFamily="34" charset="-122"/>
                <a:cs typeface="IBM Plex Sans" pitchFamily="34" charset="-120"/>
              </a:rPr>
              <a:t>, positive if </a:t>
            </a:r>
            <a:r>
              <a:rPr lang="en-US" sz="1450" b="1" dirty="0">
                <a:solidFill>
                  <a:srgbClr val="1C2541"/>
                </a:solidFill>
                <a:latin typeface="IBM Plex Sans" pitchFamily="34" charset="0"/>
                <a:ea typeface="IBM Plex Sans" pitchFamily="34" charset="-122"/>
                <a:cs typeface="IBM Plex Sans" pitchFamily="34" charset="-120"/>
              </a:rPr>
              <a:t>≥ 7</a:t>
            </a:r>
            <a:r>
              <a:rPr lang="en-US" sz="1450" dirty="0">
                <a:solidFill>
                  <a:srgbClr val="1C2541"/>
                </a:solidFill>
                <a:latin typeface="IBM Plex Sans" pitchFamily="34" charset="0"/>
                <a:ea typeface="IBM Plex Sans" pitchFamily="34" charset="-122"/>
                <a:cs typeface="IBM Plex Sans" pitchFamily="34" charset="-120"/>
              </a:rPr>
              <a:t>; the ambiguous 5–6 reviews are excluded.</a:t>
            </a:r>
            <a:endParaRPr lang="en-US" sz="1450" dirty="0"/>
          </a:p>
          <a:p>
            <a:pPr marL="182499" indent="-182499" algn="l">
              <a:lnSpc>
                <a:spcPts val="2392"/>
              </a:lnSpc>
              <a:buSzPct val="100000"/>
              <a:buChar char="•"/>
            </a:pPr>
            <a:r>
              <a:rPr lang="en-US" sz="1450" dirty="0">
                <a:solidFill>
                  <a:srgbClr val="1C2541"/>
                </a:solidFill>
                <a:latin typeface="IBM Plex Sans" pitchFamily="34" charset="0"/>
                <a:ea typeface="IBM Plex Sans" pitchFamily="34" charset="-122"/>
                <a:cs typeface="IBM Plex Sans" pitchFamily="34" charset="-120"/>
              </a:rPr>
              <a:t>Reviews average </a:t>
            </a:r>
            <a:r>
              <a:rPr lang="en-US" sz="1450" b="1" dirty="0">
                <a:solidFill>
                  <a:srgbClr val="1C2541"/>
                </a:solidFill>
                <a:latin typeface="IBM Plex Sans" pitchFamily="34" charset="0"/>
                <a:ea typeface="IBM Plex Sans" pitchFamily="34" charset="-122"/>
                <a:cs typeface="IBM Plex Sans" pitchFamily="34" charset="-120"/>
              </a:rPr>
              <a:t>230 words</a:t>
            </a:r>
            <a:r>
              <a:rPr lang="en-US" sz="1450" dirty="0">
                <a:solidFill>
                  <a:srgbClr val="1C2541"/>
                </a:solidFill>
                <a:latin typeface="IBM Plex Sans" pitchFamily="34" charset="0"/>
                <a:ea typeface="IBM Plex Sans" pitchFamily="34" charset="-122"/>
                <a:cs typeface="IBM Plex Sans" pitchFamily="34" charset="-120"/>
              </a:rPr>
              <a:t> (median 173); no movie has more than 30 reviews.</a:t>
            </a:r>
            <a:endParaRPr lang="en-US" sz="1450" dirty="0"/>
          </a:p>
          <a:p>
            <a:pPr marL="182499" indent="-182499" algn="l">
              <a:lnSpc>
                <a:spcPts val="2392"/>
              </a:lnSpc>
              <a:buSzPct val="100000"/>
              <a:buChar char="•"/>
            </a:pPr>
            <a:r>
              <a:rPr lang="en-GB" sz="1450" b="1">
                <a:solidFill>
                  <a:srgbClr val="1C2541"/>
                </a:solidFill>
                <a:latin typeface="IBM Plex Sans" pitchFamily="34" charset="0"/>
                <a:ea typeface="IBM Plex Sans" pitchFamily="34" charset="-122"/>
                <a:cs typeface="IBM Plex Sans" pitchFamily="34" charset="-120"/>
              </a:rPr>
              <a:t>7,036</a:t>
            </a:r>
            <a:r>
              <a:rPr lang="en-GB" sz="1450">
                <a:solidFill>
                  <a:srgbClr val="1C2541"/>
                </a:solidFill>
                <a:latin typeface="IBM Plex Sans" pitchFamily="34" charset="0"/>
                <a:ea typeface="IBM Plex Sans" pitchFamily="34" charset="-122"/>
                <a:cs typeface="IBM Plex Sans" pitchFamily="34" charset="-120"/>
              </a:rPr>
              <a:t> movies in all, named only by IMDb ID (for example tt0453418): the dataset has no titles or genres, just review text and star rating.</a:t>
            </a:r>
          </a:p>
          <a:p>
            <a:pPr marL="182499" indent="-182499" algn="l">
              <a:lnSpc>
                <a:spcPts val="2392"/>
              </a:lnSpc>
              <a:buSzPct val="100000"/>
              <a:buChar char="•"/>
            </a:pPr>
            <a:r>
              <a:rPr lang="en-US" sz="1450" b="1">
                <a:solidFill>
                  <a:srgbClr val="1C2541"/>
                </a:solidFill>
                <a:latin typeface="IBM Plex Sans" pitchFamily="34" charset="0"/>
                <a:ea typeface="IBM Plex Sans" pitchFamily="34" charset="-122"/>
                <a:cs typeface="IBM Plex Sans" pitchFamily="34" charset="-120"/>
              </a:rPr>
              <a:t>3,456</a:t>
            </a:r>
            <a:r>
              <a:rPr lang="en-US" sz="1450">
                <a:solidFill>
                  <a:srgbClr val="1C2541"/>
                </a:solidFill>
                <a:latin typeface="IBM Plex Sans" pitchFamily="34" charset="0"/>
                <a:ea typeface="IBM Plex Sans" pitchFamily="34" charset="-122"/>
                <a:cs typeface="IBM Plex Sans" pitchFamily="34" charset="-120"/>
              </a:rPr>
              <a:t> </a:t>
            </a:r>
            <a:r>
              <a:rPr lang="en-US" sz="1450" dirty="0">
                <a:solidFill>
                  <a:srgbClr val="1C2541"/>
                </a:solidFill>
                <a:latin typeface="IBM Plex Sans" pitchFamily="34" charset="0"/>
                <a:ea typeface="IBM Plex Sans" pitchFamily="34" charset="-122"/>
                <a:cs typeface="IBM Plex Sans" pitchFamily="34" charset="-120"/>
              </a:rPr>
              <a:t>movies in train, </a:t>
            </a:r>
            <a:r>
              <a:rPr lang="en-US" sz="1450" b="1" dirty="0">
                <a:solidFill>
                  <a:srgbClr val="1C2541"/>
                </a:solidFill>
                <a:latin typeface="IBM Plex Sans" pitchFamily="34" charset="0"/>
                <a:ea typeface="IBM Plex Sans" pitchFamily="34" charset="-122"/>
                <a:cs typeface="IBM Plex Sans" pitchFamily="34" charset="-120"/>
              </a:rPr>
              <a:t>3,581</a:t>
            </a:r>
            <a:r>
              <a:rPr lang="en-US" sz="1450" dirty="0">
                <a:solidFill>
                  <a:srgbClr val="1C2541"/>
                </a:solidFill>
                <a:latin typeface="IBM Plex Sans" pitchFamily="34" charset="0"/>
                <a:ea typeface="IBM Plex Sans" pitchFamily="34" charset="-122"/>
                <a:cs typeface="IBM Plex Sans" pitchFamily="34" charset="-120"/>
              </a:rPr>
              <a:t> in test — only </a:t>
            </a:r>
            <a:r>
              <a:rPr lang="en-US" sz="1450" b="1" dirty="0">
                <a:solidFill>
                  <a:srgbClr val="1C2541"/>
                </a:solidFill>
                <a:latin typeface="IBM Plex Sans" pitchFamily="34" charset="0"/>
                <a:ea typeface="IBM Plex Sans" pitchFamily="34" charset="-122"/>
                <a:cs typeface="IBM Plex Sans" pitchFamily="34" charset="-120"/>
              </a:rPr>
              <a:t>one</a:t>
            </a:r>
            <a:r>
              <a:rPr lang="en-US" sz="1450" dirty="0">
                <a:solidFill>
                  <a:srgbClr val="1C2541"/>
                </a:solidFill>
                <a:latin typeface="IBM Plex Sans" pitchFamily="34" charset="0"/>
                <a:ea typeface="IBM Plex Sans" pitchFamily="34" charset="-122"/>
                <a:cs typeface="IBM Plex Sans" pitchFamily="34" charset="-120"/>
              </a:rPr>
              <a:t> in common, so every test review is about an unseen </a:t>
            </a:r>
            <a:r>
              <a:rPr lang="en-US" sz="1450">
                <a:solidFill>
                  <a:srgbClr val="1C2541"/>
                </a:solidFill>
                <a:latin typeface="IBM Plex Sans" pitchFamily="34" charset="0"/>
                <a:ea typeface="IBM Plex Sans" pitchFamily="34" charset="-122"/>
                <a:cs typeface="IBM Plex Sans" pitchFamily="34" charset="-120"/>
              </a:rPr>
              <a:t>movie.</a:t>
            </a:r>
            <a:endParaRPr lang="en-GB" sz="1450">
              <a:solidFill>
                <a:srgbClr val="1C2541"/>
              </a:solidFill>
              <a:latin typeface="IBM Plex Sans" pitchFamily="34" charset="0"/>
              <a:ea typeface="IBM Plex Sans" pitchFamily="34" charset="-122"/>
              <a:cs typeface="IBM Plex Sans" pitchFamily="34" charset="-120"/>
            </a:endParaRPr>
          </a:p>
          <a:p>
            <a:pPr marL="182499" indent="-182499" algn="l">
              <a:lnSpc>
                <a:spcPts val="2392"/>
              </a:lnSpc>
              <a:buSzPct val="100000"/>
              <a:buChar char="•"/>
            </a:pPr>
            <a:endParaRPr lang="en-US" sz="1450" dirty="0"/>
          </a:p>
        </p:txBody>
      </p:sp>
      <p:sp>
        <p:nvSpPr>
          <p:cNvPr id="14" name="Text 12"/>
          <p:cNvSpPr/>
          <p:nvPr/>
        </p:nvSpPr>
        <p:spPr>
          <a:xfrm>
            <a:off x="812774" y="6238297"/>
            <a:ext cx="57305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6"/>
                </a:solidFill>
                <a:latin typeface="IBM Plex Sans" pitchFamily="34" charset="0"/>
                <a:ea typeface="IBM Plex Sans" pitchFamily="34" charset="-122"/>
                <a:cs typeface="IBM Plex Sans" pitchFamily="34" charset="-120"/>
              </a:rPr>
              <a:t>That last fact — unseen movies at test time — shapes how we validate.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6"/>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APPROACH</a:t>
            </a:r>
            <a:endParaRPr lang="en-US" sz="1300" dirty="0"/>
          </a:p>
        </p:txBody>
      </p:sp>
      <p:sp>
        <p:nvSpPr>
          <p:cNvPr id="3" name="Text 1"/>
          <p:cNvSpPr>
            <a:spLocks noGrp="1"/>
          </p:cNvSpPr>
          <p:nvPr>
            <p:ph type="title"/>
          </p:nvPr>
        </p:nvSpPr>
        <p:spPr>
          <a:xfrm>
            <a:off x="812774" y="1120073"/>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One pipeline, three representations, six models</a:t>
            </a:r>
            <a:endParaRPr lang="en-US" sz="3200" dirty="0"/>
          </a:p>
        </p:txBody>
      </p:sp>
      <p:sp>
        <p:nvSpPr>
          <p:cNvPr id="4" name="Shape 2"/>
          <p:cNvSpPr/>
          <p:nvPr/>
        </p:nvSpPr>
        <p:spPr>
          <a:xfrm>
            <a:off x="815949" y="1900444"/>
            <a:ext cx="2032867" cy="1381967"/>
          </a:xfrm>
          <a:prstGeom prst="roundRect">
            <a:avLst>
              <a:gd name="adj" fmla="val 6203"/>
            </a:avLst>
          </a:prstGeom>
          <a:solidFill>
            <a:srgbClr val="FFFFFF"/>
          </a:solidFill>
          <a:ln w="6350">
            <a:solidFill>
              <a:srgbClr val="DDE3EC"/>
            </a:solidFill>
            <a:prstDash val="solid"/>
          </a:ln>
        </p:spPr>
      </p:sp>
      <p:sp>
        <p:nvSpPr>
          <p:cNvPr id="5" name="Text 3"/>
          <p:cNvSpPr/>
          <p:nvPr/>
        </p:nvSpPr>
        <p:spPr>
          <a:xfrm>
            <a:off x="1020587" y="2105082"/>
            <a:ext cx="1674392"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D8C"/>
                </a:solidFill>
                <a:latin typeface="IBM Plex Sans" pitchFamily="34" charset="0"/>
                <a:ea typeface="IBM Plex Sans" pitchFamily="34" charset="-122"/>
                <a:cs typeface="IBM Plex Sans" pitchFamily="34" charset="-120"/>
              </a:rPr>
              <a:t>Clean</a:t>
            </a:r>
            <a:endParaRPr lang="en-US" sz="1400" dirty="0"/>
          </a:p>
        </p:txBody>
      </p:sp>
      <p:sp>
        <p:nvSpPr>
          <p:cNvPr id="6" name="Text 4"/>
          <p:cNvSpPr/>
          <p:nvPr/>
        </p:nvSpPr>
        <p:spPr>
          <a:xfrm>
            <a:off x="1020587" y="2417454"/>
            <a:ext cx="1674392" cy="64253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Lowercase, strip HTML, handle stop words &amp; lemmas</a:t>
            </a:r>
            <a:endParaRPr lang="en-US" sz="1200" dirty="0"/>
          </a:p>
        </p:txBody>
      </p:sp>
      <p:pic>
        <p:nvPicPr>
          <p:cNvPr id="7" name="Image 0" descr="arrow-right"/>
          <p:cNvPicPr>
            <a:picLocks noChangeAspect="1"/>
          </p:cNvPicPr>
          <p:nvPr/>
        </p:nvPicPr>
        <p:blipFill>
          <a:blip r:embed="rId3"/>
          <a:srcRect l="-8" r="-8"/>
          <a:stretch/>
        </p:blipFill>
        <p:spPr>
          <a:xfrm>
            <a:off x="2978940" y="2477159"/>
            <a:ext cx="355557" cy="228536"/>
          </a:xfrm>
          <a:prstGeom prst="rect">
            <a:avLst/>
          </a:prstGeom>
        </p:spPr>
      </p:pic>
      <p:sp>
        <p:nvSpPr>
          <p:cNvPr id="8" name="Shape 5"/>
          <p:cNvSpPr/>
          <p:nvPr/>
        </p:nvSpPr>
        <p:spPr>
          <a:xfrm>
            <a:off x="3464620" y="1900444"/>
            <a:ext cx="2032940" cy="1381967"/>
          </a:xfrm>
          <a:prstGeom prst="roundRect">
            <a:avLst>
              <a:gd name="adj" fmla="val 6203"/>
            </a:avLst>
          </a:prstGeom>
          <a:solidFill>
            <a:srgbClr val="FFFFFF"/>
          </a:solidFill>
          <a:ln w="6350">
            <a:solidFill>
              <a:srgbClr val="DDE3EC"/>
            </a:solidFill>
            <a:prstDash val="solid"/>
          </a:ln>
        </p:spPr>
      </p:sp>
      <p:sp>
        <p:nvSpPr>
          <p:cNvPr id="9" name="Text 6"/>
          <p:cNvSpPr/>
          <p:nvPr/>
        </p:nvSpPr>
        <p:spPr>
          <a:xfrm>
            <a:off x="3669258" y="2105082"/>
            <a:ext cx="1674464" cy="52319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D8C"/>
                </a:solidFill>
                <a:latin typeface="IBM Plex Sans" pitchFamily="34" charset="0"/>
                <a:ea typeface="IBM Plex Sans" pitchFamily="34" charset="-122"/>
                <a:cs typeface="IBM Plex Sans" pitchFamily="34" charset="-120"/>
              </a:rPr>
              <a:t>(1,3)-gram vocabulary</a:t>
            </a:r>
            <a:endParaRPr lang="en-US" sz="1400" dirty="0"/>
          </a:p>
        </p:txBody>
      </p:sp>
      <p:sp>
        <p:nvSpPr>
          <p:cNvPr id="10" name="Text 7"/>
          <p:cNvSpPr/>
          <p:nvPr/>
        </p:nvSpPr>
        <p:spPr>
          <a:xfrm>
            <a:off x="3669258" y="2666350"/>
            <a:ext cx="1674464" cy="436823"/>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Uni-, bi- and trigrams, counted once</a:t>
            </a:r>
            <a:endParaRPr lang="en-US" sz="1200" dirty="0"/>
          </a:p>
        </p:txBody>
      </p:sp>
      <p:pic>
        <p:nvPicPr>
          <p:cNvPr id="11" name="Image 1" descr="arrow-right"/>
          <p:cNvPicPr>
            <a:picLocks noChangeAspect="1"/>
          </p:cNvPicPr>
          <p:nvPr/>
        </p:nvPicPr>
        <p:blipFill>
          <a:blip r:embed="rId3"/>
          <a:srcRect l="-8" r="-8"/>
          <a:stretch/>
        </p:blipFill>
        <p:spPr>
          <a:xfrm>
            <a:off x="5627683" y="2477159"/>
            <a:ext cx="355557" cy="228536"/>
          </a:xfrm>
          <a:prstGeom prst="rect">
            <a:avLst/>
          </a:prstGeom>
        </p:spPr>
      </p:pic>
      <p:sp>
        <p:nvSpPr>
          <p:cNvPr id="12" name="Shape 8"/>
          <p:cNvSpPr/>
          <p:nvPr/>
        </p:nvSpPr>
        <p:spPr>
          <a:xfrm>
            <a:off x="6113364" y="1900444"/>
            <a:ext cx="2328066" cy="1381967"/>
          </a:xfrm>
          <a:prstGeom prst="roundRect">
            <a:avLst>
              <a:gd name="adj" fmla="val 6203"/>
            </a:avLst>
          </a:prstGeom>
          <a:solidFill>
            <a:srgbClr val="FFFFFF"/>
          </a:solidFill>
          <a:ln w="6350">
            <a:solidFill>
              <a:srgbClr val="DDE3EC"/>
            </a:solidFill>
            <a:prstDash val="solid"/>
          </a:ln>
        </p:spPr>
      </p:sp>
      <p:sp>
        <p:nvSpPr>
          <p:cNvPr id="13" name="Text 9"/>
          <p:cNvSpPr/>
          <p:nvPr/>
        </p:nvSpPr>
        <p:spPr>
          <a:xfrm>
            <a:off x="6318001" y="2105082"/>
            <a:ext cx="1976354"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D8C"/>
                </a:solidFill>
                <a:latin typeface="IBM Plex Sans" pitchFamily="34" charset="0"/>
                <a:ea typeface="IBM Plex Sans" pitchFamily="34" charset="-122"/>
                <a:cs typeface="IBM Plex Sans" pitchFamily="34" charset="-120"/>
              </a:rPr>
              <a:t>3 matrices</a:t>
            </a:r>
            <a:endParaRPr lang="en-US" sz="1400" dirty="0"/>
          </a:p>
        </p:txBody>
      </p:sp>
      <p:sp>
        <p:nvSpPr>
          <p:cNvPr id="14" name="Text 10"/>
          <p:cNvSpPr/>
          <p:nvPr/>
        </p:nvSpPr>
        <p:spPr>
          <a:xfrm>
            <a:off x="6318001" y="2417454"/>
            <a:ext cx="1976354" cy="64253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Binary · word count · tf-idf — same vocabulary, different values</a:t>
            </a:r>
            <a:endParaRPr lang="en-US" sz="1200" dirty="0"/>
          </a:p>
        </p:txBody>
      </p:sp>
      <p:pic>
        <p:nvPicPr>
          <p:cNvPr id="15" name="Image 2" descr="arrow-right"/>
          <p:cNvPicPr>
            <a:picLocks noChangeAspect="1"/>
          </p:cNvPicPr>
          <p:nvPr/>
        </p:nvPicPr>
        <p:blipFill>
          <a:blip r:embed="rId4"/>
          <a:srcRect l="-8" r="-8"/>
          <a:stretch/>
        </p:blipFill>
        <p:spPr>
          <a:xfrm>
            <a:off x="8571553" y="2477159"/>
            <a:ext cx="355557" cy="228536"/>
          </a:xfrm>
          <a:prstGeom prst="rect">
            <a:avLst/>
          </a:prstGeom>
        </p:spPr>
      </p:pic>
      <p:sp>
        <p:nvSpPr>
          <p:cNvPr id="16" name="Shape 11"/>
          <p:cNvSpPr/>
          <p:nvPr/>
        </p:nvSpPr>
        <p:spPr>
          <a:xfrm>
            <a:off x="9054058" y="1897269"/>
            <a:ext cx="2325141" cy="1388317"/>
          </a:xfrm>
          <a:prstGeom prst="roundRect">
            <a:avLst>
              <a:gd name="adj" fmla="val 6403"/>
            </a:avLst>
          </a:prstGeom>
          <a:solidFill>
            <a:srgbClr val="1C2541"/>
          </a:solidFill>
          <a:ln/>
        </p:spPr>
      </p:sp>
      <p:sp>
        <p:nvSpPr>
          <p:cNvPr id="17" name="Text 12"/>
          <p:cNvSpPr/>
          <p:nvPr/>
        </p:nvSpPr>
        <p:spPr>
          <a:xfrm>
            <a:off x="9257233" y="2100444"/>
            <a:ext cx="1976354"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77D34"/>
                </a:solidFill>
                <a:latin typeface="IBM Plex Sans" pitchFamily="34" charset="0"/>
                <a:ea typeface="IBM Plex Sans" pitchFamily="34" charset="-122"/>
                <a:cs typeface="IBM Plex Sans" pitchFamily="34" charset="-120"/>
              </a:rPr>
              <a:t>6 classifiers</a:t>
            </a:r>
            <a:endParaRPr lang="en-US" sz="1400" dirty="0"/>
          </a:p>
        </p:txBody>
      </p:sp>
      <p:sp>
        <p:nvSpPr>
          <p:cNvPr id="18" name="Text 13"/>
          <p:cNvSpPr/>
          <p:nvPr/>
        </p:nvSpPr>
        <p:spPr>
          <a:xfrm>
            <a:off x="9257233" y="2412816"/>
            <a:ext cx="1976354" cy="436823"/>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EC0D6"/>
                </a:solidFill>
                <a:latin typeface="IBM Plex Sans" pitchFamily="34" charset="0"/>
                <a:ea typeface="IBM Plex Sans" pitchFamily="34" charset="-122"/>
                <a:cs typeface="IBM Plex Sans" pitchFamily="34" charset="-120"/>
              </a:rPr>
              <a:t>LR, SVM, NB, Random Forest, Boosting, DNN</a:t>
            </a:r>
            <a:endParaRPr lang="en-US" sz="1200" dirty="0"/>
          </a:p>
        </p:txBody>
      </p:sp>
      <p:sp>
        <p:nvSpPr>
          <p:cNvPr id="19" name="Text 14"/>
          <p:cNvSpPr/>
          <p:nvPr/>
        </p:nvSpPr>
        <p:spPr>
          <a:xfrm>
            <a:off x="815949" y="3618957"/>
            <a:ext cx="10560075" cy="961559"/>
          </a:xfrm>
          <a:prstGeom prst="roundRect">
            <a:avLst>
              <a:gd name="adj" fmla="val 8915"/>
            </a:avLst>
          </a:prstGeom>
          <a:solidFill>
            <a:srgbClr val="FFFFFF"/>
          </a:solidFill>
          <a:ln w="6350">
            <a:solidFill>
              <a:srgbClr val="DDE3EC"/>
            </a:solidFill>
            <a:prstDash val="solid"/>
          </a:ln>
        </p:spPr>
        <p:txBody>
          <a:bodyPr wrap="square" lIns="204954" tIns="179554" rIns="0" bIns="154154" rtlCol="0" anchor="t">
            <a:normAutofit/>
          </a:bodyPr>
          <a:lstStyle/>
          <a:p>
            <a:pPr marL="0" indent="0" algn="l">
              <a:lnSpc>
                <a:spcPts val="2175"/>
              </a:lnSpc>
              <a:buNone/>
            </a:pPr>
            <a:r>
              <a:rPr lang="en-US" sz="1450" dirty="0">
                <a:solidFill>
                  <a:srgbClr val="1C2541"/>
                </a:solidFill>
                <a:latin typeface="IBM Plex Sans" pitchFamily="34" charset="0"/>
                <a:ea typeface="IBM Plex Sans" pitchFamily="34" charset="-122"/>
                <a:cs typeface="IBM Plex Sans" pitchFamily="34" charset="-120"/>
              </a:rPr>
              <a:t>The three representations are built from </a:t>
            </a:r>
            <a:r>
              <a:rPr lang="en-US" sz="1450" b="1" dirty="0">
                <a:solidFill>
                  <a:srgbClr val="1C2541"/>
                </a:solidFill>
                <a:latin typeface="IBM Plex Sans" pitchFamily="34" charset="0"/>
                <a:ea typeface="IBM Plex Sans" pitchFamily="34" charset="-122"/>
                <a:cs typeface="IBM Plex Sans" pitchFamily="34" charset="-120"/>
              </a:rPr>
              <a:t>one</a:t>
            </a:r>
            <a:r>
              <a:rPr lang="en-US" sz="1450" dirty="0">
                <a:solidFill>
                  <a:srgbClr val="1C2541"/>
                </a:solidFill>
                <a:latin typeface="IBM Plex Sans" pitchFamily="34" charset="0"/>
                <a:ea typeface="IBM Plex Sans" pitchFamily="34" charset="-122"/>
                <a:cs typeface="IBM Plex Sans" pitchFamily="34" charset="-120"/>
              </a:rPr>
              <a:t> shared n-gram vocabulary, so they differ only in the numbers each cell holds — a clean, controlled comparison.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EVALUATION PROTOCOL</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Validate by movie, not at random</a:t>
            </a:r>
            <a:endParaRPr lang="en-US" sz="3200" dirty="0"/>
          </a:p>
        </p:txBody>
      </p:sp>
      <p:sp>
        <p:nvSpPr>
          <p:cNvPr id="4" name="Text 2"/>
          <p:cNvSpPr/>
          <p:nvPr/>
        </p:nvSpPr>
        <p:spPr>
          <a:xfrm>
            <a:off x="812774" y="2227610"/>
            <a:ext cx="5452456" cy="854043"/>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C2541"/>
                </a:solidFill>
                <a:latin typeface="IBM Plex Sans" pitchFamily="34" charset="0"/>
                <a:ea typeface="IBM Plex Sans" pitchFamily="34" charset="-122"/>
                <a:cs typeface="IBM Plex Sans" pitchFamily="34" charset="-120"/>
              </a:rPr>
              <a:t>The test set holds only </a:t>
            </a:r>
            <a:r>
              <a:rPr lang="en-US" sz="1500" b="1" dirty="0">
                <a:solidFill>
                  <a:srgbClr val="1C2541"/>
                </a:solidFill>
                <a:latin typeface="IBM Plex Sans" pitchFamily="34" charset="0"/>
                <a:ea typeface="IBM Plex Sans" pitchFamily="34" charset="-122"/>
                <a:cs typeface="IBM Plex Sans" pitchFamily="34" charset="-120"/>
              </a:rPr>
              <a:t>unseen movies</a:t>
            </a:r>
            <a:r>
              <a:rPr lang="en-US" sz="1500" dirty="0">
                <a:solidFill>
                  <a:srgbClr val="1C2541"/>
                </a:solidFill>
                <a:latin typeface="IBM Plex Sans" pitchFamily="34" charset="0"/>
                <a:ea typeface="IBM Plex Sans" pitchFamily="34" charset="-122"/>
                <a:cs typeface="IBM Plex Sans" pitchFamily="34" charset="-120"/>
              </a:rPr>
              <a:t>. A random validation split puts reviews of the same movie on both sides — and rewards memorising movie-specific words.</a:t>
            </a:r>
            <a:endParaRPr lang="en-US" sz="1500" dirty="0"/>
          </a:p>
        </p:txBody>
      </p:sp>
      <p:sp>
        <p:nvSpPr>
          <p:cNvPr id="5" name="Text 3"/>
          <p:cNvSpPr/>
          <p:nvPr/>
        </p:nvSpPr>
        <p:spPr>
          <a:xfrm>
            <a:off x="812774" y="3195882"/>
            <a:ext cx="5452456" cy="559279"/>
          </a:xfrm>
          <a:prstGeom prst="rect">
            <a:avLst/>
          </a:prstGeom>
          <a:noFill/>
          <a:ln/>
        </p:spPr>
        <p:txBody>
          <a:bodyPr wrap="square" lIns="0" tIns="0" rIns="0" bIns="0" rtlCol="0" anchor="t">
            <a:normAutofit/>
          </a:bodyPr>
          <a:lstStyle/>
          <a:p>
            <a:pPr marL="0" indent="0" algn="l">
              <a:lnSpc>
                <a:spcPts val="2103"/>
              </a:lnSpc>
              <a:buNone/>
            </a:pPr>
            <a:r>
              <a:rPr lang="en-GB" sz="1450" b="1">
                <a:solidFill>
                  <a:srgbClr val="4A5568"/>
                </a:solidFill>
                <a:latin typeface="IBM Plex Sans" pitchFamily="34" charset="0"/>
                <a:ea typeface="IBM Plex Sans" pitchFamily="34" charset="-122"/>
                <a:cs typeface="IBM Plex Sans" pitchFamily="34" charset="-120"/>
              </a:rPr>
              <a:t>Leaky:</a:t>
            </a:r>
            <a:r>
              <a:rPr lang="en-GB" sz="1450">
                <a:solidFill>
                  <a:srgbClr val="4A5568"/>
                </a:solidFill>
                <a:latin typeface="IBM Plex Sans" pitchFamily="34" charset="0"/>
                <a:ea typeface="IBM Plex Sans" pitchFamily="34" charset="-122"/>
                <a:cs typeface="IBM Plex Sans" pitchFamily="34" charset="-120"/>
              </a:rPr>
              <a:t> the score is inflated by something the test set will not have, here other reviews of the same movie. Grouping the split </a:t>
            </a:r>
            <a:r>
              <a:rPr lang="en-GB" sz="1450" b="1">
                <a:solidFill>
                  <a:srgbClr val="4A5568"/>
                </a:solidFill>
                <a:latin typeface="IBM Plex Sans" pitchFamily="34" charset="0"/>
                <a:ea typeface="IBM Plex Sans" pitchFamily="34" charset="-122"/>
                <a:cs typeface="IBM Plex Sans" pitchFamily="34" charset="-120"/>
              </a:rPr>
              <a:t>by movie</a:t>
            </a:r>
            <a:r>
              <a:rPr lang="en-GB" sz="1450">
                <a:solidFill>
                  <a:srgbClr val="4A5568"/>
                </a:solidFill>
                <a:latin typeface="IBM Plex Sans" pitchFamily="34" charset="0"/>
                <a:ea typeface="IBM Plex Sans" pitchFamily="34" charset="-122"/>
                <a:cs typeface="IBM Plex Sans" pitchFamily="34" charset="-120"/>
              </a:rPr>
              <a:t> closes that leak.</a:t>
            </a:r>
            <a:endParaRPr lang="en-US" sz="1450" dirty="0"/>
          </a:p>
        </p:txBody>
      </p:sp>
      <p:sp>
        <p:nvSpPr>
          <p:cNvPr id="6" name="Shape 4"/>
          <p:cNvSpPr/>
          <p:nvPr/>
        </p:nvSpPr>
        <p:spPr>
          <a:xfrm>
            <a:off x="6363565" y="1849580"/>
            <a:ext cx="5012459" cy="2258288"/>
          </a:xfrm>
          <a:prstGeom prst="roundRect">
            <a:avLst>
              <a:gd name="adj" fmla="val 3796"/>
            </a:avLst>
          </a:prstGeom>
          <a:solidFill>
            <a:srgbClr val="FFFFFF"/>
          </a:solidFill>
          <a:ln w="6350">
            <a:solidFill>
              <a:srgbClr val="DDE3EC"/>
            </a:solidFill>
            <a:prstDash val="solid"/>
          </a:ln>
        </p:spPr>
      </p:sp>
      <p:sp>
        <p:nvSpPr>
          <p:cNvPr id="7" name="Text 5"/>
          <p:cNvSpPr/>
          <p:nvPr/>
        </p:nvSpPr>
        <p:spPr>
          <a:xfrm>
            <a:off x="6568203" y="2028785"/>
            <a:ext cx="4741279" cy="247567"/>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8A93A6"/>
                </a:solidFill>
                <a:latin typeface="IBM Plex Sans" pitchFamily="34" charset="0"/>
                <a:ea typeface="IBM Plex Sans" pitchFamily="34" charset="-122"/>
                <a:cs typeface="IBM Plex Sans" pitchFamily="34" charset="-120"/>
              </a:rPr>
              <a:t>Naive Bayes accuracy</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77478" y="2349126"/>
          <a:ext cx="4593908" cy="1280787"/>
        </p:xfrm>
        <a:graphic>
          <a:graphicData uri="http://schemas.openxmlformats.org/drawingml/2006/table">
            <a:tbl>
              <a:tblPr/>
              <a:tblGrid>
                <a:gridCol w="2848223">
                  <a:extLst>
                    <a:ext uri="{9D8B030D-6E8A-4147-A177-3AD203B41FA5}">
                      <a16:colId xmlns:a16="http://schemas.microsoft.com/office/drawing/2014/main" val="20000"/>
                    </a:ext>
                  </a:extLst>
                </a:gridCol>
                <a:gridCol w="1745685">
                  <a:extLst>
                    <a:ext uri="{9D8B030D-6E8A-4147-A177-3AD203B41FA5}">
                      <a16:colId xmlns:a16="http://schemas.microsoft.com/office/drawing/2014/main" val="20001"/>
                    </a:ext>
                  </a:extLst>
                </a:gridCol>
              </a:tblGrid>
              <a:tr h="426929">
                <a:tc>
                  <a:txBody>
                    <a:bodyPr/>
                    <a:lstStyle/>
                    <a:p>
                      <a:pPr marL="0" indent="0">
                        <a:lnSpc>
                          <a:spcPts val="1890"/>
                        </a:lnSpc>
                        <a:buNone/>
                      </a:pPr>
                      <a:r>
                        <a:rPr lang="en-US" sz="1350" dirty="0">
                          <a:solidFill>
                            <a:srgbClr val="1C2541"/>
                          </a:solidFill>
                          <a:latin typeface="IBM Plex Sans" pitchFamily="34" charset="0"/>
                          <a:ea typeface="IBM Plex Sans" pitchFamily="34" charset="-122"/>
                          <a:cs typeface="IBM Plex Sans" pitchFamily="34" charset="-120"/>
                        </a:rPr>
                        <a:t>Random split (leaky)</a:t>
                      </a:r>
                      <a:endParaRPr lang="en-US" sz="1350" dirty="0">
                        <a:latin typeface="IBM Plex Sans" charset="0"/>
                        <a:ea typeface="IBM Plex Sans" charset="0"/>
                        <a:cs typeface="IBM Plex Sans"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B23B3B"/>
                          </a:solidFill>
                          <a:latin typeface="IBM Plex Sans" pitchFamily="34" charset="0"/>
                          <a:ea typeface="IBM Plex Sans" pitchFamily="34" charset="-122"/>
                          <a:cs typeface="IBM Plex Sans" pitchFamily="34" charset="-120"/>
                        </a:rPr>
                        <a:t>0.895</a:t>
                      </a:r>
                      <a:endParaRPr lang="en-US" sz="1350" dirty="0">
                        <a:latin typeface="IBM Plex Sans" charset="0"/>
                        <a:ea typeface="IBM Plex Sans" charset="0"/>
                        <a:cs typeface="IBM Plex Sans"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0"/>
                  </a:ext>
                </a:extLst>
              </a:tr>
              <a:tr h="426929">
                <a:tc>
                  <a:txBody>
                    <a:bodyPr/>
                    <a:lstStyle/>
                    <a:p>
                      <a:pPr marL="0" indent="0">
                        <a:lnSpc>
                          <a:spcPts val="1890"/>
                        </a:lnSpc>
                        <a:buNone/>
                      </a:pPr>
                      <a:r>
                        <a:rPr lang="en-US" sz="1350" dirty="0">
                          <a:solidFill>
                            <a:srgbClr val="1C2541"/>
                          </a:solidFill>
                          <a:latin typeface="IBM Plex Sans" pitchFamily="34" charset="0"/>
                          <a:ea typeface="IBM Plex Sans" pitchFamily="34" charset="-122"/>
                          <a:cs typeface="IBM Plex Sans" pitchFamily="34" charset="-120"/>
                        </a:rPr>
                        <a:t>Grouped by movie</a:t>
                      </a:r>
                      <a:endParaRPr lang="en-US" sz="1350" dirty="0">
                        <a:latin typeface="IBM Plex Sans" charset="0"/>
                        <a:ea typeface="IBM Plex Sans" charset="0"/>
                        <a:cs typeface="IBM Plex Sans"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890"/>
                        </a:lnSpc>
                        <a:buNone/>
                      </a:pPr>
                      <a:r>
                        <a:rPr lang="en-US" sz="1350" dirty="0">
                          <a:solidFill>
                            <a:srgbClr val="1C2541"/>
                          </a:solidFill>
                          <a:latin typeface="IBM Plex Sans" pitchFamily="34" charset="0"/>
                          <a:ea typeface="IBM Plex Sans" pitchFamily="34" charset="-122"/>
                          <a:cs typeface="IBM Plex Sans" pitchFamily="34" charset="-120"/>
                        </a:rPr>
                        <a:t>0.866</a:t>
                      </a:r>
                      <a:endParaRPr lang="en-US" sz="1350" dirty="0">
                        <a:latin typeface="IBM Plex Sans" charset="0"/>
                        <a:ea typeface="IBM Plex Sans" charset="0"/>
                        <a:cs typeface="IBM Plex Sans" charset="0"/>
                      </a:endParaRPr>
                    </a:p>
                  </a:txBody>
                  <a:tcPr marL="50800" marR="50800" marT="88900" marB="8890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1"/>
                  </a:ext>
                </a:extLst>
              </a:tr>
              <a:tr h="426929">
                <a:tc>
                  <a:txBody>
                    <a:bodyPr/>
                    <a:lstStyle/>
                    <a:p>
                      <a:pPr marL="0" indent="0">
                        <a:lnSpc>
                          <a:spcPts val="1890"/>
                        </a:lnSpc>
                        <a:buNone/>
                      </a:pPr>
                      <a:r>
                        <a:rPr lang="en-US" sz="1350" dirty="0">
                          <a:solidFill>
                            <a:srgbClr val="1C2541"/>
                          </a:solidFill>
                          <a:latin typeface="IBM Plex Sans" pitchFamily="34" charset="0"/>
                          <a:ea typeface="IBM Plex Sans" pitchFamily="34" charset="-122"/>
                          <a:cs typeface="IBM Plex Sans" pitchFamily="34" charset="-120"/>
                        </a:rPr>
                        <a:t>Actual test set</a:t>
                      </a:r>
                      <a:endParaRPr lang="en-US" sz="1350" dirty="0">
                        <a:latin typeface="IBM Plex Sans" charset="0"/>
                        <a:ea typeface="IBM Plex Sans" charset="0"/>
                        <a:cs typeface="IBM Plex Sans"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2F5D8C"/>
                          </a:solidFill>
                          <a:latin typeface="IBM Plex Sans" pitchFamily="34" charset="0"/>
                          <a:ea typeface="IBM Plex Sans" pitchFamily="34" charset="-122"/>
                          <a:cs typeface="IBM Plex Sans" pitchFamily="34" charset="-120"/>
                        </a:rPr>
                        <a:t>0.880</a:t>
                      </a:r>
                      <a:endParaRPr lang="en-US" sz="1350" dirty="0">
                        <a:latin typeface="IBM Plex Sans" charset="0"/>
                        <a:ea typeface="IBM Plex Sans" charset="0"/>
                        <a:cs typeface="IBM Plex Sans"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6"/>
          <p:cNvSpPr/>
          <p:nvPr/>
        </p:nvSpPr>
        <p:spPr>
          <a:xfrm>
            <a:off x="6619003" y="3731512"/>
            <a:ext cx="4753846" cy="222549"/>
          </a:xfrm>
          <a:prstGeom prst="rect">
            <a:avLst/>
          </a:prstGeom>
          <a:noFill/>
          <a:ln/>
        </p:spPr>
        <p:txBody>
          <a:bodyPr wrap="square" lIns="0" tIns="0" rIns="0" bIns="0" rtlCol="0" anchor="t">
            <a:normAutofit/>
          </a:bodyPr>
          <a:lstStyle/>
          <a:p>
            <a:pPr marL="0" indent="0" algn="l">
              <a:lnSpc>
                <a:spcPts val="1553"/>
              </a:lnSpc>
              <a:buNone/>
            </a:pPr>
            <a:r>
              <a:rPr lang="en-GB" sz="1150">
                <a:solidFill>
                  <a:srgbClr val="4A5568"/>
                </a:solidFill>
                <a:latin typeface="IBM Plex Sans" pitchFamily="34" charset="0"/>
                <a:ea typeface="IBM Plex Sans" pitchFamily="34" charset="-122"/>
                <a:cs typeface="IBM Plex Sans" pitchFamily="34" charset="-120"/>
              </a:rPr>
              <a:t>Random is 1.5 pts too optimistic; grouped is 1.4 pts cautious.</a:t>
            </a:r>
            <a:endParaRPr lang="en-US" sz="1150" dirty="0"/>
          </a:p>
        </p:txBody>
      </p:sp>
      <p:sp>
        <p:nvSpPr>
          <p:cNvPr id="10" name="Text 7"/>
          <p:cNvSpPr/>
          <p:nvPr/>
        </p:nvSpPr>
        <p:spPr>
          <a:xfrm>
            <a:off x="812774" y="4390371"/>
            <a:ext cx="10566425" cy="896609"/>
          </a:xfrm>
          <a:prstGeom prst="roundRect">
            <a:avLst>
              <a:gd name="adj" fmla="val 9915"/>
            </a:avLst>
          </a:prstGeom>
          <a:solidFill>
            <a:srgbClr val="1C2541"/>
          </a:solidFill>
          <a:ln/>
        </p:spPr>
        <p:txBody>
          <a:bodyPr wrap="square" lIns="202498" tIns="164462" rIns="0" bIns="139052" rtlCol="0" anchor="t">
            <a:normAutofit/>
          </a:bodyPr>
          <a:lstStyle/>
          <a:p>
            <a:pPr marL="0" indent="0" algn="l">
              <a:lnSpc>
                <a:spcPts val="2030"/>
              </a:lnSpc>
              <a:buNone/>
            </a:pPr>
            <a:r>
              <a:rPr lang="en-US" sz="1400" b="1" dirty="0">
                <a:solidFill>
                  <a:srgbClr val="C77D34"/>
                </a:solidFill>
                <a:latin typeface="IBM Plex Sans" pitchFamily="34" charset="0"/>
                <a:ea typeface="IBM Plex Sans" pitchFamily="34" charset="-122"/>
                <a:cs typeface="IBM Plex Sans" pitchFamily="34" charset="-120"/>
              </a:rPr>
              <a:t>The loop:</a:t>
            </a:r>
            <a:r>
              <a:rPr lang="en-US" sz="1400" dirty="0">
                <a:solidFill>
                  <a:srgbClr val="EAF0F7"/>
                </a:solidFill>
                <a:latin typeface="IBM Plex Sans" pitchFamily="34" charset="0"/>
                <a:ea typeface="IBM Plex Sans" pitchFamily="34" charset="-122"/>
                <a:cs typeface="IBM Plex Sans" pitchFamily="34" charset="-120"/>
              </a:rPr>
              <a:t> tune hyperparameters on 20% held out by movie → refit on all 25k training reviews → score </a:t>
            </a:r>
            <a:r>
              <a:rPr lang="en-US" sz="1400" b="1" dirty="0">
                <a:solidFill>
                  <a:srgbClr val="EAF0F7"/>
                </a:solidFill>
                <a:latin typeface="IBM Plex Sans" pitchFamily="34" charset="0"/>
                <a:ea typeface="IBM Plex Sans" pitchFamily="34" charset="-122"/>
                <a:cs typeface="IBM Plex Sans" pitchFamily="34" charset="-120"/>
              </a:rPr>
              <a:t>once</a:t>
            </a:r>
            <a:r>
              <a:rPr lang="en-US" sz="1400" dirty="0">
                <a:solidFill>
                  <a:srgbClr val="EAF0F7"/>
                </a:solidFill>
                <a:latin typeface="IBM Plex Sans" pitchFamily="34" charset="0"/>
                <a:ea typeface="IBM Plex Sans" pitchFamily="34" charset="-122"/>
                <a:cs typeface="IBM Plex Sans" pitchFamily="34" charset="-120"/>
              </a:rPr>
              <a:t> on the 25k test set. No hyperparameter or improvement was ever chosen on the test data.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RESULT 1 — REPRODUCTION</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We match the paper's Table 2</a:t>
            </a:r>
            <a:endParaRPr lang="en-US" sz="3200" dirty="0"/>
          </a:p>
        </p:txBody>
      </p:sp>
      <p:sp>
        <p:nvSpPr>
          <p:cNvPr id="4" name="Shape 2"/>
          <p:cNvSpPr/>
          <p:nvPr/>
        </p:nvSpPr>
        <p:spPr>
          <a:xfrm>
            <a:off x="812774" y="1795611"/>
            <a:ext cx="10566425" cy="2976549"/>
          </a:xfrm>
          <a:custGeom>
            <a:avLst/>
            <a:gdLst/>
            <a:ahLst/>
            <a:cxnLst/>
            <a:rect l="l" t="t" r="r" b="b"/>
            <a:pathLst>
              <a:path w="10566425" h="2976549">
                <a:moveTo>
                  <a:pt x="10490225" y="0"/>
                </a:moveTo>
                <a:lnTo>
                  <a:pt x="10490225" y="0"/>
                </a:lnTo>
                <a:arcTo wR="76200" hR="76200" stAng="16200000" swAng="5400000"/>
                <a:lnTo>
                  <a:pt x="10566425" y="2900349"/>
                </a:lnTo>
                <a:arcTo wR="76200" hR="76200" stAng="0" swAng="5400000"/>
                <a:lnTo>
                  <a:pt x="76200" y="2976549"/>
                </a:lnTo>
                <a:arcTo wR="76200" hR="76200" stAng="5400000" swAng="5400000"/>
                <a:lnTo>
                  <a:pt x="0" y="2900349"/>
                </a:lnTo>
                <a:arcTo wR="76200" hR="69850" stAng="10800000" swAng="-5400000"/>
                <a:lnTo>
                  <a:pt x="10490225" y="2970199"/>
                </a:lnTo>
                <a:arcTo wR="69850" hR="69850" stAng="5400000" swAng="-5400000"/>
                <a:lnTo>
                  <a:pt x="10560075" y="76200"/>
                </a:lnTo>
                <a:arcTo wR="69850" hR="76200" stAng="0" swAng="-5400000"/>
                <a:close/>
              </a:path>
            </a:pathLst>
          </a:custGeom>
          <a:solidFill>
            <a:srgbClr val="DDE3EC"/>
          </a:solidFill>
          <a:ln/>
        </p:spPr>
      </p:sp>
      <p:sp>
        <p:nvSpPr>
          <p:cNvPr id="5" name="Shape 3"/>
          <p:cNvSpPr/>
          <p:nvPr/>
        </p:nvSpPr>
        <p:spPr>
          <a:xfrm>
            <a:off x="812774" y="1795611"/>
            <a:ext cx="10566425" cy="2976549"/>
          </a:xfrm>
          <a:custGeom>
            <a:avLst/>
            <a:gdLst/>
            <a:ahLst/>
            <a:cxnLst/>
            <a:rect l="l" t="t" r="r" b="b"/>
            <a:pathLst>
              <a:path w="10566425" h="2976549">
                <a:moveTo>
                  <a:pt x="76200" y="2976549"/>
                </a:moveTo>
                <a:lnTo>
                  <a:pt x="76200" y="2976549"/>
                </a:lnTo>
                <a:arcTo wR="76200" hR="76200" stAng="5400000" swAng="5400000"/>
                <a:lnTo>
                  <a:pt x="0" y="76200"/>
                </a:lnTo>
                <a:arcTo wR="76200" hR="76200" stAng="10800000" swAng="5400000"/>
                <a:lnTo>
                  <a:pt x="10490225" y="0"/>
                </a:lnTo>
                <a:arcTo wR="76200" hR="76200" stAng="16200000" swAng="5400000"/>
                <a:lnTo>
                  <a:pt x="10566425" y="76200"/>
                </a:lnTo>
                <a:arcTo wR="76200" hR="66925" stAng="0" swAng="-5400000"/>
                <a:lnTo>
                  <a:pt x="76200" y="9275"/>
                </a:lnTo>
                <a:arcTo wR="66925" hR="66925" stAng="16200000" swAng="-5400000"/>
                <a:lnTo>
                  <a:pt x="9275" y="2900349"/>
                </a:lnTo>
                <a:arcTo wR="66925" hR="762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049" y="1804886"/>
          <a:ext cx="10552513" cy="2962638"/>
        </p:xfrm>
        <a:graphic>
          <a:graphicData uri="http://schemas.openxmlformats.org/drawingml/2006/table">
            <a:tbl>
              <a:tblPr/>
              <a:tblGrid>
                <a:gridCol w="3587854">
                  <a:extLst>
                    <a:ext uri="{9D8B030D-6E8A-4147-A177-3AD203B41FA5}">
                      <a16:colId xmlns:a16="http://schemas.microsoft.com/office/drawing/2014/main" val="20000"/>
                    </a:ext>
                  </a:extLst>
                </a:gridCol>
                <a:gridCol w="2321553">
                  <a:extLst>
                    <a:ext uri="{9D8B030D-6E8A-4147-A177-3AD203B41FA5}">
                      <a16:colId xmlns:a16="http://schemas.microsoft.com/office/drawing/2014/main" val="20001"/>
                    </a:ext>
                  </a:extLst>
                </a:gridCol>
                <a:gridCol w="2321553">
                  <a:extLst>
                    <a:ext uri="{9D8B030D-6E8A-4147-A177-3AD203B41FA5}">
                      <a16:colId xmlns:a16="http://schemas.microsoft.com/office/drawing/2014/main" val="20002"/>
                    </a:ext>
                  </a:extLst>
                </a:gridCol>
                <a:gridCol w="2321553">
                  <a:extLst>
                    <a:ext uri="{9D8B030D-6E8A-4147-A177-3AD203B41FA5}">
                      <a16:colId xmlns:a16="http://schemas.microsoft.com/office/drawing/2014/main" val="20003"/>
                    </a:ext>
                  </a:extLst>
                </a:gridCol>
              </a:tblGrid>
              <a:tr h="423234">
                <a:tc>
                  <a:txBody>
                    <a:bodyPr/>
                    <a:lstStyle/>
                    <a:p>
                      <a:pPr marL="0" indent="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Model (features)</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1A2137"/>
                      </a:solidFill>
                      <a:prstDash val="solid"/>
                      <a:round/>
                      <a:headEnd type="none" w="med" len="med"/>
                      <a:tailEnd type="none" w="med" len="med"/>
                    </a:lnR>
                    <a:lnT w="0" cap="flat" cmpd="sng" algn="ctr">
                      <a:noFill/>
                    </a:lnT>
                    <a:lnB w="12700" cap="flat" cmpd="sng" algn="ctr">
                      <a:solidFill>
                        <a:srgbClr val="1A2137"/>
                      </a:solidFill>
                      <a:prstDash val="solid"/>
                      <a:round/>
                      <a:headEnd type="none" w="med" len="med"/>
                      <a:tailEnd type="none" w="med" len="med"/>
                    </a:lnB>
                    <a:solidFill>
                      <a:srgbClr val="1C2541"/>
                    </a:solidFill>
                  </a:tcPr>
                </a:tc>
                <a:tc>
                  <a:txBody>
                    <a:bodyPr/>
                    <a:lstStyle/>
                    <a:p>
                      <a:pPr marL="0" indent="0" algn="r">
                        <a:lnSpc>
                          <a:spcPts val="1960"/>
                        </a:lnSpc>
                        <a:buNone/>
                      </a:pPr>
                      <a:r>
                        <a:rPr lang="en-US" sz="1400" b="1" dirty="0">
                          <a:solidFill>
                            <a:srgbClr val="AEC0D6"/>
                          </a:solidFill>
                          <a:latin typeface="IBM Plex Sans" pitchFamily="34" charset="0"/>
                          <a:ea typeface="IBM Plex Sans" pitchFamily="34" charset="-122"/>
                          <a:cs typeface="IBM Plex Sans" pitchFamily="34" charset="-120"/>
                        </a:rPr>
                        <a:t>Paper</a:t>
                      </a:r>
                      <a:endParaRPr lang="en-US" sz="1400" dirty="0">
                        <a:latin typeface="IBM Plex Sans" charset="0"/>
                        <a:ea typeface="IBM Plex Sans" charset="0"/>
                        <a:cs typeface="IBM Plex Sans" charset="0"/>
                      </a:endParaRPr>
                    </a:p>
                  </a:txBody>
                  <a:tcPr marL="139700" marR="139700" marT="82550" marB="82550">
                    <a:lnL w="12700" cap="flat" cmpd="sng" algn="ctr">
                      <a:solidFill>
                        <a:srgbClr val="1A2137"/>
                      </a:solidFill>
                      <a:prstDash val="solid"/>
                      <a:round/>
                      <a:headEnd type="none" w="med" len="med"/>
                      <a:tailEnd type="none" w="med" len="med"/>
                    </a:lnL>
                    <a:lnR w="12700" cap="flat" cmpd="sng" algn="ctr">
                      <a:solidFill>
                        <a:srgbClr val="1A2137"/>
                      </a:solidFill>
                      <a:prstDash val="solid"/>
                      <a:round/>
                      <a:headEnd type="none" w="med" len="med"/>
                      <a:tailEnd type="none" w="med" len="med"/>
                    </a:lnR>
                    <a:lnT w="0" cap="flat" cmpd="sng" algn="ctr">
                      <a:noFill/>
                    </a:lnT>
                    <a:lnB w="12700" cap="flat" cmpd="sng" algn="ctr">
                      <a:solidFill>
                        <a:srgbClr val="1A2137"/>
                      </a:solidFill>
                      <a:prstDash val="solid"/>
                      <a:round/>
                      <a:headEnd type="none" w="med" len="med"/>
                      <a:tailEnd type="none" w="med" len="med"/>
                    </a:lnB>
                    <a:solidFill>
                      <a:srgbClr val="1C2541"/>
                    </a:solidFill>
                  </a:tcPr>
                </a:tc>
                <a:tc>
                  <a:txBody>
                    <a:bodyPr/>
                    <a:lstStyle/>
                    <a:p>
                      <a:pPr marL="0" indent="0" algn="r">
                        <a:lnSpc>
                          <a:spcPts val="1960"/>
                        </a:lnSpc>
                        <a:buNone/>
                      </a:pPr>
                      <a:r>
                        <a:rPr lang="en-US" sz="1400" b="1" dirty="0">
                          <a:solidFill>
                            <a:srgbClr val="C77D34"/>
                          </a:solidFill>
                          <a:latin typeface="IBM Plex Sans" pitchFamily="34" charset="0"/>
                          <a:ea typeface="IBM Plex Sans" pitchFamily="34" charset="-122"/>
                          <a:cs typeface="IBM Plex Sans" pitchFamily="34" charset="-120"/>
                        </a:rPr>
                        <a:t>Ours</a:t>
                      </a:r>
                      <a:endParaRPr lang="en-US" sz="1400" dirty="0">
                        <a:latin typeface="IBM Plex Sans" charset="0"/>
                        <a:ea typeface="IBM Plex Sans" charset="0"/>
                        <a:cs typeface="IBM Plex Sans" charset="0"/>
                      </a:endParaRPr>
                    </a:p>
                  </a:txBody>
                  <a:tcPr marL="139700" marR="139700" marT="82550" marB="82550">
                    <a:lnL w="12700" cap="flat" cmpd="sng" algn="ctr">
                      <a:solidFill>
                        <a:srgbClr val="1A2137"/>
                      </a:solidFill>
                      <a:prstDash val="solid"/>
                      <a:round/>
                      <a:headEnd type="none" w="med" len="med"/>
                      <a:tailEnd type="none" w="med" len="med"/>
                    </a:lnL>
                    <a:lnR w="12700" cap="flat" cmpd="sng" algn="ctr">
                      <a:solidFill>
                        <a:srgbClr val="1A2137"/>
                      </a:solidFill>
                      <a:prstDash val="solid"/>
                      <a:round/>
                      <a:headEnd type="none" w="med" len="med"/>
                      <a:tailEnd type="none" w="med" len="med"/>
                    </a:lnR>
                    <a:lnT w="0" cap="flat" cmpd="sng" algn="ctr">
                      <a:noFill/>
                    </a:lnT>
                    <a:lnB w="12700" cap="flat" cmpd="sng" algn="ctr">
                      <a:solidFill>
                        <a:srgbClr val="1A2137"/>
                      </a:solidFill>
                      <a:prstDash val="solid"/>
                      <a:round/>
                      <a:headEnd type="none" w="med" len="med"/>
                      <a:tailEnd type="none" w="med" len="med"/>
                    </a:lnB>
                    <a:solidFill>
                      <a:srgbClr val="1C2541"/>
                    </a:solidFill>
                  </a:tcPr>
                </a:tc>
                <a:tc>
                  <a:txBody>
                    <a:bodyPr/>
                    <a:lstStyle/>
                    <a:p>
                      <a:pPr marL="0" indent="0">
                        <a:lnSpc>
                          <a:spcPts val="1960"/>
                        </a:lnSpc>
                        <a:buNone/>
                      </a:pPr>
                      <a:r>
                        <a:rPr lang="en-US" sz="1400" b="1" dirty="0">
                          <a:solidFill>
                            <a:srgbClr val="AEC0D6"/>
                          </a:solidFill>
                          <a:latin typeface="IBM Plex Sans" pitchFamily="34" charset="0"/>
                          <a:ea typeface="IBM Plex Sans" pitchFamily="34" charset="-122"/>
                          <a:cs typeface="IBM Plex Sans" pitchFamily="34" charset="-120"/>
                        </a:rPr>
                        <a:t>Gap</a:t>
                      </a:r>
                      <a:endParaRPr lang="en-US" sz="1400" dirty="0">
                        <a:latin typeface="IBM Plex Sans" charset="0"/>
                        <a:ea typeface="IBM Plex Sans" charset="0"/>
                        <a:cs typeface="IBM Plex Sans" charset="0"/>
                      </a:endParaRPr>
                    </a:p>
                  </a:txBody>
                  <a:tcPr marL="139700" marR="139700" marT="82550" marB="82550">
                    <a:lnL w="12700" cap="flat" cmpd="sng" algn="ctr">
                      <a:solidFill>
                        <a:srgbClr val="1A2137"/>
                      </a:solidFill>
                      <a:prstDash val="solid"/>
                      <a:round/>
                      <a:headEnd type="none" w="med" len="med"/>
                      <a:tailEnd type="none" w="med" len="med"/>
                    </a:lnL>
                    <a:lnR w="12700" cap="flat" cmpd="sng" algn="ctr">
                      <a:solidFill>
                        <a:srgbClr val="1A2137"/>
                      </a:solidFill>
                      <a:prstDash val="solid"/>
                      <a:round/>
                      <a:headEnd type="none" w="med" len="med"/>
                      <a:tailEnd type="none" w="med" len="med"/>
                    </a:lnR>
                    <a:lnT w="0" cap="flat" cmpd="sng" algn="ctr">
                      <a:noFill/>
                    </a:lnT>
                    <a:lnB w="12700" cap="flat" cmpd="sng" algn="ctr">
                      <a:solidFill>
                        <a:srgbClr val="1A2137"/>
                      </a:solidFill>
                      <a:prstDash val="solid"/>
                      <a:round/>
                      <a:headEnd type="none" w="med" len="med"/>
                      <a:tailEnd type="none" w="med" len="med"/>
                    </a:lnB>
                    <a:solidFill>
                      <a:srgbClr val="1C2541"/>
                    </a:solidFill>
                  </a:tcPr>
                </a:tc>
                <a:extLst>
                  <a:ext uri="{0D108BD9-81ED-4DB2-BD59-A6C34878D82A}">
                    <a16:rowId xmlns:a16="http://schemas.microsoft.com/office/drawing/2014/main" val="10000"/>
                  </a:ext>
                </a:extLst>
              </a:tr>
              <a:tr h="423234">
                <a:tc>
                  <a:txBody>
                    <a:bodyPr/>
                    <a:lstStyle/>
                    <a:p>
                      <a:pPr marL="0" indent="0">
                        <a:lnSpc>
                          <a:spcPts val="1960"/>
                        </a:lnSpc>
                        <a:buNone/>
                      </a:pPr>
                      <a:r>
                        <a:rPr lang="en-US" sz="1400" dirty="0">
                          <a:solidFill>
                            <a:srgbClr val="1C2541"/>
                          </a:solidFill>
                          <a:latin typeface="IBM Plex Sans" pitchFamily="34" charset="0"/>
                          <a:ea typeface="IBM Plex Sans" pitchFamily="34" charset="-122"/>
                          <a:cs typeface="IBM Plex Sans" pitchFamily="34" charset="-120"/>
                        </a:rPr>
                        <a:t>Logistic Regression (binary)</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C8C8C6"/>
                      </a:solidFill>
                      <a:prstDash val="solid"/>
                      <a:round/>
                      <a:headEnd type="none" w="med" len="med"/>
                      <a:tailEnd type="none" w="med" len="med"/>
                    </a:lnR>
                    <a:lnT w="12700" cap="flat" cmpd="sng" algn="ctr">
                      <a:solidFill>
                        <a:srgbClr val="1A2137"/>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0.900</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A2137"/>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0.9004</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A2137"/>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2E7D55"/>
                          </a:solidFill>
                          <a:latin typeface="IBM Plex Sans" pitchFamily="34" charset="0"/>
                          <a:ea typeface="IBM Plex Sans" pitchFamily="34" charset="-122"/>
                          <a:cs typeface="IBM Plex Sans" pitchFamily="34" charset="-120"/>
                        </a:rPr>
                        <a:t>+0.0004</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A2137"/>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23234">
                <a:tc>
                  <a:txBody>
                    <a:bodyPr/>
                    <a:lstStyle/>
                    <a:p>
                      <a:pPr marL="0" indent="0">
                        <a:lnSpc>
                          <a:spcPts val="1960"/>
                        </a:lnSpc>
                        <a:buNone/>
                      </a:pPr>
                      <a:r>
                        <a:rPr lang="en-US" sz="1400" dirty="0">
                          <a:solidFill>
                            <a:srgbClr val="1C2541"/>
                          </a:solidFill>
                          <a:latin typeface="IBM Plex Sans" pitchFamily="34" charset="0"/>
                          <a:ea typeface="IBM Plex Sans" pitchFamily="34" charset="-122"/>
                          <a:cs typeface="IBM Plex Sans" pitchFamily="34" charset="-120"/>
                        </a:rPr>
                        <a:t>SVM (tf-idf)</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0.900</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0.9023</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nSpc>
                          <a:spcPts val="1960"/>
                        </a:lnSpc>
                        <a:buNone/>
                      </a:pPr>
                      <a:r>
                        <a:rPr lang="en-US" sz="1400" dirty="0">
                          <a:solidFill>
                            <a:srgbClr val="2E7D55"/>
                          </a:solidFill>
                          <a:latin typeface="IBM Plex Sans" pitchFamily="34" charset="0"/>
                          <a:ea typeface="IBM Plex Sans" pitchFamily="34" charset="-122"/>
                          <a:cs typeface="IBM Plex Sans" pitchFamily="34" charset="-120"/>
                        </a:rPr>
                        <a:t>+0.0023</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2"/>
                  </a:ext>
                </a:extLst>
              </a:tr>
              <a:tr h="423234">
                <a:tc>
                  <a:txBody>
                    <a:bodyPr/>
                    <a:lstStyle/>
                    <a:p>
                      <a:pPr marL="0" indent="0">
                        <a:lnSpc>
                          <a:spcPts val="1960"/>
                        </a:lnSpc>
                        <a:buNone/>
                      </a:pPr>
                      <a:r>
                        <a:rPr lang="en-US" sz="1400" dirty="0">
                          <a:solidFill>
                            <a:srgbClr val="1C2541"/>
                          </a:solidFill>
                          <a:latin typeface="IBM Plex Sans" pitchFamily="34" charset="0"/>
                          <a:ea typeface="IBM Plex Sans" pitchFamily="34" charset="-122"/>
                          <a:cs typeface="IBM Plex Sans" pitchFamily="34" charset="-120"/>
                        </a:rPr>
                        <a:t>Naive Bayes (binary)</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0.881</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0.8795</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8A93A6"/>
                          </a:solidFill>
                          <a:latin typeface="IBM Plex Sans" pitchFamily="34" charset="0"/>
                          <a:ea typeface="IBM Plex Sans" pitchFamily="34" charset="-122"/>
                          <a:cs typeface="IBM Plex Sans" pitchFamily="34" charset="-120"/>
                        </a:rPr>
                        <a:t>−0.0015</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423234">
                <a:tc>
                  <a:txBody>
                    <a:bodyPr/>
                    <a:lstStyle/>
                    <a:p>
                      <a:pPr marL="0" indent="0">
                        <a:lnSpc>
                          <a:spcPts val="1960"/>
                        </a:lnSpc>
                        <a:buNone/>
                      </a:pPr>
                      <a:r>
                        <a:rPr lang="en-US" sz="1400" dirty="0">
                          <a:solidFill>
                            <a:srgbClr val="1C2541"/>
                          </a:solidFill>
                          <a:latin typeface="IBM Plex Sans" pitchFamily="34" charset="0"/>
                          <a:ea typeface="IBM Plex Sans" pitchFamily="34" charset="-122"/>
                          <a:cs typeface="IBM Plex Sans" pitchFamily="34" charset="-120"/>
                        </a:rPr>
                        <a:t>Random Forest (binary)</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0.852</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0.8616</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nSpc>
                          <a:spcPts val="1960"/>
                        </a:lnSpc>
                        <a:buNone/>
                      </a:pPr>
                      <a:r>
                        <a:rPr lang="en-US" sz="1400" dirty="0">
                          <a:solidFill>
                            <a:srgbClr val="2E7D55"/>
                          </a:solidFill>
                          <a:latin typeface="IBM Plex Sans" pitchFamily="34" charset="0"/>
                          <a:ea typeface="IBM Plex Sans" pitchFamily="34" charset="-122"/>
                          <a:cs typeface="IBM Plex Sans" pitchFamily="34" charset="-120"/>
                        </a:rPr>
                        <a:t>+0.0096</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4"/>
                  </a:ext>
                </a:extLst>
              </a:tr>
              <a:tr h="423234">
                <a:tc>
                  <a:txBody>
                    <a:bodyPr/>
                    <a:lstStyle/>
                    <a:p>
                      <a:pPr marL="0" indent="0">
                        <a:lnSpc>
                          <a:spcPts val="1960"/>
                        </a:lnSpc>
                        <a:buNone/>
                      </a:pPr>
                      <a:r>
                        <a:rPr lang="en-US" sz="1400" dirty="0">
                          <a:solidFill>
                            <a:srgbClr val="1C2541"/>
                          </a:solidFill>
                          <a:latin typeface="IBM Plex Sans" pitchFamily="34" charset="0"/>
                          <a:ea typeface="IBM Plex Sans" pitchFamily="34" charset="-122"/>
                          <a:cs typeface="IBM Plex Sans" pitchFamily="34" charset="-120"/>
                        </a:rPr>
                        <a:t>Boosting (binary)</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0.831</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0.8151</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8A93A6"/>
                          </a:solidFill>
                          <a:latin typeface="IBM Plex Sans" pitchFamily="34" charset="0"/>
                          <a:ea typeface="IBM Plex Sans" pitchFamily="34" charset="-122"/>
                          <a:cs typeface="IBM Plex Sans" pitchFamily="34" charset="-120"/>
                        </a:rPr>
                        <a:t>−0.0159</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423234">
                <a:tc>
                  <a:txBody>
                    <a:bodyPr/>
                    <a:lstStyle/>
                    <a:p>
                      <a:pPr marL="0" indent="0">
                        <a:lnSpc>
                          <a:spcPts val="1960"/>
                        </a:lnSpc>
                        <a:buNone/>
                      </a:pPr>
                      <a:r>
                        <a:rPr lang="en-US" sz="1400" dirty="0">
                          <a:solidFill>
                            <a:srgbClr val="1C2541"/>
                          </a:solidFill>
                          <a:latin typeface="IBM Plex Sans" pitchFamily="34" charset="0"/>
                          <a:ea typeface="IBM Plex Sans" pitchFamily="34" charset="-122"/>
                          <a:cs typeface="IBM Plex Sans" pitchFamily="34" charset="-120"/>
                        </a:rPr>
                        <a:t>DNN (binary)</a:t>
                      </a:r>
                      <a:endParaRPr lang="en-US" sz="1400" dirty="0">
                        <a:latin typeface="IBM Plex Sans" charset="0"/>
                        <a:ea typeface="IBM Plex Sans" charset="0"/>
                        <a:cs typeface="IBM Plex Sans" charset="0"/>
                      </a:endParaRPr>
                    </a:p>
                  </a:txBody>
                  <a:tcPr marL="139700" marR="139700" marT="82550" marB="8255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0.906</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gn="r">
                        <a:lnSpc>
                          <a:spcPts val="1960"/>
                        </a:lnSpc>
                        <a:buNone/>
                      </a:pPr>
                      <a:r>
                        <a:rPr lang="en-US" sz="1400" dirty="0">
                          <a:solidFill>
                            <a:srgbClr val="1C2541"/>
                          </a:solidFill>
                          <a:latin typeface="IBM Plex Sans" pitchFamily="34" charset="0"/>
                          <a:ea typeface="IBM Plex Sans" pitchFamily="34" charset="-122"/>
                          <a:cs typeface="IBM Plex Sans" pitchFamily="34" charset="-120"/>
                        </a:rPr>
                        <a:t>0.8985</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nSpc>
                          <a:spcPts val="1960"/>
                        </a:lnSpc>
                        <a:buNone/>
                      </a:pPr>
                      <a:r>
                        <a:rPr lang="en-US" sz="1400" dirty="0">
                          <a:solidFill>
                            <a:srgbClr val="8A93A6"/>
                          </a:solidFill>
                          <a:latin typeface="IBM Plex Sans" pitchFamily="34" charset="0"/>
                          <a:ea typeface="IBM Plex Sans" pitchFamily="34" charset="-122"/>
                          <a:cs typeface="IBM Plex Sans" pitchFamily="34" charset="-120"/>
                        </a:rPr>
                        <a:t>−0.0075</a:t>
                      </a:r>
                      <a:endParaRPr lang="en-US" sz="1400" dirty="0">
                        <a:latin typeface="IBM Plex Sans" charset="0"/>
                        <a:ea typeface="IBM Plex Sans" charset="0"/>
                        <a:cs typeface="IBM Plex Sans" charset="0"/>
                      </a:endParaRPr>
                    </a:p>
                  </a:txBody>
                  <a:tcPr marL="139700" marR="139700" marT="82550" marB="8255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6"/>
                  </a:ext>
                </a:extLst>
              </a:tr>
            </a:tbl>
          </a:graphicData>
        </a:graphic>
      </p:graphicFrame>
      <p:sp>
        <p:nvSpPr>
          <p:cNvPr id="7" name="Text 4"/>
          <p:cNvSpPr/>
          <p:nvPr/>
        </p:nvSpPr>
        <p:spPr>
          <a:xfrm>
            <a:off x="812774" y="5000696"/>
            <a:ext cx="10883418" cy="5224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LR, SVM and NB land within </a:t>
            </a:r>
            <a:r>
              <a:rPr lang="en-US" sz="1350" b="1" dirty="0">
                <a:solidFill>
                  <a:srgbClr val="4A5568"/>
                </a:solidFill>
                <a:latin typeface="IBM Plex Sans" pitchFamily="34" charset="0"/>
                <a:ea typeface="IBM Plex Sans" pitchFamily="34" charset="-122"/>
                <a:cs typeface="IBM Plex Sans" pitchFamily="34" charset="-120"/>
              </a:rPr>
              <a:t>0.35 points</a:t>
            </a:r>
            <a:r>
              <a:rPr lang="en-US" sz="1350" dirty="0">
                <a:solidFill>
                  <a:srgbClr val="4A5568"/>
                </a:solidFill>
                <a:latin typeface="IBM Plex Sans" pitchFamily="34" charset="0"/>
                <a:ea typeface="IBM Plex Sans" pitchFamily="34" charset="-122"/>
                <a:cs typeface="IBM Plex Sans" pitchFamily="34" charset="-120"/>
              </a:rPr>
              <a:t> of every row; Random Forest about a point high. Boosting &amp; the DNN use a </a:t>
            </a:r>
            <a:r>
              <a:rPr lang="en-US" sz="1350" b="1" dirty="0">
                <a:solidFill>
                  <a:srgbClr val="4A5568"/>
                </a:solidFill>
                <a:latin typeface="IBM Plex Sans" pitchFamily="34" charset="0"/>
                <a:ea typeface="IBM Plex Sans" pitchFamily="34" charset="-122"/>
                <a:cs typeface="IBM Plex Sans" pitchFamily="34" charset="-120"/>
              </a:rPr>
              <a:t>reduced vocabulary</a:t>
            </a:r>
            <a:r>
              <a:rPr lang="en-US" sz="1350" dirty="0">
                <a:solidFill>
                  <a:srgbClr val="4A5568"/>
                </a:solidFill>
                <a:latin typeface="IBM Plex Sans" pitchFamily="34" charset="0"/>
                <a:ea typeface="IBM Plex Sans" pitchFamily="34" charset="-122"/>
                <a:cs typeface="IBM Plex Sans" pitchFamily="34" charset="-120"/>
              </a:rPr>
              <a:t> so they finish on a laptop — with the full vocabulary the binary DNN reached </a:t>
            </a:r>
            <a:r>
              <a:rPr lang="en-US" sz="1350" b="1" dirty="0">
                <a:solidFill>
                  <a:srgbClr val="4A5568"/>
                </a:solidFill>
                <a:latin typeface="IBM Plex Sans" pitchFamily="34" charset="0"/>
                <a:ea typeface="IBM Plex Sans" pitchFamily="34" charset="-122"/>
                <a:cs typeface="IBM Plex Sans" pitchFamily="34" charset="-120"/>
              </a:rPr>
              <a:t>0.9057</a:t>
            </a:r>
            <a:r>
              <a:rPr lang="en-US" sz="1350" dirty="0">
                <a:solidFill>
                  <a:srgbClr val="4A5568"/>
                </a:solidFill>
                <a:latin typeface="IBM Plex Sans" pitchFamily="34" charset="0"/>
                <a:ea typeface="IBM Plex Sans" pitchFamily="34" charset="-122"/>
                <a:cs typeface="IBM Plex Sans" pitchFamily="34" charset="-120"/>
              </a:rPr>
              <a:t>, exactly the paper's 0.906.</a:t>
            </a:r>
            <a:endParaRPr lang="en-US" sz="1350" dirty="0"/>
          </a:p>
        </p:txBody>
      </p:sp>
      <p:sp>
        <p:nvSpPr>
          <p:cNvPr id="8" name="Text 5"/>
          <p:cNvSpPr/>
          <p:nvPr/>
        </p:nvSpPr>
        <p:spPr>
          <a:xfrm>
            <a:off x="812774" y="6238298"/>
            <a:ext cx="5473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6"/>
                </a:solidFill>
                <a:latin typeface="IBM Plex Sans" pitchFamily="34" charset="0"/>
                <a:ea typeface="IBM Plex Sans" pitchFamily="34" charset="-122"/>
                <a:cs typeface="IBM Plex Sans" pitchFamily="34" charset="-120"/>
              </a:rPr>
              <a:t>Full 18-row table (3 representations × 6 models) is in the README.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REPRODUCTION · CLASSIFIER 1 OF 6</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Logistic Regression lands on the paper's numbers</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Logistic Regression · test accuracy by feature type</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binary features</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11,171</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1,329</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1,160</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11,340</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89.4%  ·  positive 90.7%</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Gap vs paper </a:t>
            </a:r>
            <a:r>
              <a:rPr sz="1250" b="0">
                <a:solidFill>
                  <a:srgbClr val="4A5568"/>
                </a:solidFill>
                <a:latin typeface="IBM Plex Sans"/>
              </a:rPr>
              <a:t>(binary, count, tf-idf): +0.0004, +0.0017, +0.0032.  </a:t>
            </a:r>
            <a:r>
              <a:rPr sz="1250" b="1">
                <a:solidFill>
                  <a:srgbClr val="4A5568"/>
                </a:solidFill>
                <a:latin typeface="IBM Plex Sans"/>
              </a:rPr>
              <a:t>Settings </a:t>
            </a:r>
            <a:r>
              <a:rPr sz="1250" b="0">
                <a:solidFill>
                  <a:srgbClr val="4A5568"/>
                </a:solidFill>
                <a:latin typeface="IBM Plex Sans"/>
              </a:rPr>
              <a:t>L2, liblinear solver, C chosen on validation from the paper's grid.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REPRODUCTION · CLASSIFIER 2 OF 6</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SVM matches the paper, best on tf-idf</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SVM · test accuracy by feature type</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tf-idf features</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11,224</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1,276</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1,167</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11,333</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89.8%  ·  positive 90.7%</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Gap vs paper </a:t>
            </a:r>
            <a:r>
              <a:rPr sz="1250" b="0">
                <a:solidFill>
                  <a:srgbClr val="4A5568"/>
                </a:solidFill>
                <a:latin typeface="IBM Plex Sans"/>
              </a:rPr>
              <a:t>(binary, count, tf-idf): −0.0020, +0.0016, +0.0023.  </a:t>
            </a:r>
            <a:r>
              <a:rPr sz="1250" b="1">
                <a:solidFill>
                  <a:srgbClr val="4A5568"/>
                </a:solidFill>
                <a:latin typeface="IBM Plex Sans"/>
              </a:rPr>
              <a:t>Settings </a:t>
            </a:r>
            <a:r>
              <a:rPr sz="1250" b="0">
                <a:solidFill>
                  <a:srgbClr val="4A5568"/>
                </a:solidFill>
                <a:latin typeface="IBM Plex Sans"/>
              </a:rPr>
              <a:t>Linear SVM (LinearSVC), L2, C chosen on validation from the paper's grid.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REPRODUCTION · CLASSIFIER 3 OF 6</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Naive Bayes sits just under the paper on all three</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Naive Bayes · test accuracy by feature type</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binary features</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11,522</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978</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2,035</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10,465</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92.2%  ·  positive 83.7%</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Gap vs paper </a:t>
            </a:r>
            <a:r>
              <a:rPr sz="1250" b="0">
                <a:solidFill>
                  <a:srgbClr val="4A5568"/>
                </a:solidFill>
                <a:latin typeface="IBM Plex Sans"/>
              </a:rPr>
              <a:t>(binary, count, tf-idf): −0.0015, −0.0009, −0.0015.  </a:t>
            </a:r>
            <a:r>
              <a:rPr sz="1250" b="1">
                <a:solidFill>
                  <a:srgbClr val="4A5568"/>
                </a:solidFill>
                <a:latin typeface="IBM Plex Sans"/>
              </a:rPr>
              <a:t>Settings </a:t>
            </a:r>
            <a:r>
              <a:rPr sz="1250" b="0">
                <a:solidFill>
                  <a:srgbClr val="4A5568"/>
                </a:solidFill>
                <a:latin typeface="IBM Plex Sans"/>
              </a:rPr>
              <a:t>Multinomial Naive Bayes, Laplace smoothing (alpha = 1), no tuning.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REPRODUCTION · CLASSIFIER 4 OF 6</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Random Forest beats the paper by about a point</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Random Forest · test accuracy by feature type</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binary features</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10,742</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1,758</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1,701</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10,799</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85.9%  ·  positive 86.4%</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Gap vs paper </a:t>
            </a:r>
            <a:r>
              <a:rPr sz="1250" b="0">
                <a:solidFill>
                  <a:srgbClr val="4A5568"/>
                </a:solidFill>
                <a:latin typeface="IBM Plex Sans"/>
              </a:rPr>
              <a:t>(binary, count, tf-idf): +0.0096, +0.0108, +0.0108.  </a:t>
            </a:r>
            <a:r>
              <a:rPr sz="1250" b="1">
                <a:solidFill>
                  <a:srgbClr val="4A5568"/>
                </a:solidFill>
                <a:latin typeface="IBM Plex Sans"/>
              </a:rPr>
              <a:t>Settings </a:t>
            </a:r>
            <a:r>
              <a:rPr sz="1250" b="0">
                <a:solidFill>
                  <a:srgbClr val="4A5568"/>
                </a:solidFill>
                <a:latin typeface="IBM Plex Sans"/>
              </a:rPr>
              <a:t>100 trees, Gini, no depth limit; n-grams in at least 5 reviews (210,685 features).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REPRODUCTION · CLASSIFIER 5 OF 6</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Boosting falls short on a reduced vocabulary</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Boosting · test accuracy by feature type</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binary features</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9,594</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2,906</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1,717</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10,783</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76.8%  ·  positive 86.3%</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Gap vs paper </a:t>
            </a:r>
            <a:r>
              <a:rPr sz="1250" b="0">
                <a:solidFill>
                  <a:srgbClr val="4A5568"/>
                </a:solidFill>
                <a:latin typeface="IBM Plex Sans"/>
              </a:rPr>
              <a:t>(binary, count, tf-idf): −0.0159, −0.0171, −0.0085.  </a:t>
            </a:r>
            <a:r>
              <a:rPr sz="1250" b="1">
                <a:solidFill>
                  <a:srgbClr val="4A5568"/>
                </a:solidFill>
                <a:latin typeface="IBM Plex Sans"/>
              </a:rPr>
              <a:t>Settings </a:t>
            </a:r>
            <a:r>
              <a:rPr sz="1250" b="0">
                <a:solidFill>
                  <a:srgbClr val="4A5568"/>
                </a:solidFill>
                <a:latin typeface="IBM Plex Sans"/>
              </a:rPr>
              <a:t>Gradient boosting, 100 trees, learning rate 0.1; n-grams in at least 50 reviews (17,671 features).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REPRODUCTION · CLASSIFIER 6 OF 6</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The DNN trails slightly on a smaller vocabulary</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DNN · test accuracy by feature type</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binary features</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11,207</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1,293</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1,244</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11,256</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89.7%  ·  positive 90.0%</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Gap vs paper </a:t>
            </a:r>
            <a:r>
              <a:rPr sz="1250" b="0">
                <a:solidFill>
                  <a:srgbClr val="4A5568"/>
                </a:solidFill>
                <a:latin typeface="IBM Plex Sans"/>
              </a:rPr>
              <a:t>(binary, count, tf-idf): −0.0075, −0.0027, −0.0021.  </a:t>
            </a:r>
            <a:r>
              <a:rPr sz="1250" b="1">
                <a:solidFill>
                  <a:srgbClr val="4A5568"/>
                </a:solidFill>
                <a:latin typeface="IBM Plex Sans"/>
              </a:rPr>
              <a:t>Settings </a:t>
            </a:r>
            <a:r>
              <a:rPr sz="1250" b="0">
                <a:solidFill>
                  <a:srgbClr val="4A5568"/>
                </a:solidFill>
                <a:latin typeface="IBM Plex Sans"/>
              </a:rPr>
              <a:t>Five sigmoid layers (30, 30, 20, 10, 10), Adam, alpha 0.0001, early stopping; 17,671 features.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1C2541"/>
        </a:solidFill>
        <a:effectLst/>
      </p:bgPr>
    </p:bg>
    <p:spTree>
      <p:nvGrpSpPr>
        <p:cNvPr id="1" name=""/>
        <p:cNvGrpSpPr/>
        <p:nvPr/>
      </p:nvGrpSpPr>
      <p:grpSpPr>
        <a:xfrm>
          <a:off x="0" y="0"/>
          <a:ext cx="0" cy="0"/>
          <a:chOff x="0" y="0"/>
          <a:chExt cx="0" cy="0"/>
        </a:xfrm>
      </p:grpSpPr>
      <p:sp>
        <p:nvSpPr>
          <p:cNvPr id="2" name="Text 0"/>
          <p:cNvSpPr/>
          <p:nvPr/>
        </p:nvSpPr>
        <p:spPr>
          <a:xfrm>
            <a:off x="812774" y="812772"/>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RESULT 2 — IMPROVEMENT</a:t>
            </a:r>
            <a:endParaRPr lang="en-US" sz="1300" dirty="0"/>
          </a:p>
        </p:txBody>
      </p:sp>
      <p:sp>
        <p:nvSpPr>
          <p:cNvPr id="3" name="Text 1"/>
          <p:cNvSpPr>
            <a:spLocks noGrp="1"/>
          </p:cNvSpPr>
          <p:nvPr>
            <p:ph type="title"/>
          </p:nvPr>
        </p:nvSpPr>
        <p:spPr>
          <a:xfrm>
            <a:off x="812774" y="1120071"/>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Source Serif 4" pitchFamily="18" charset="0"/>
                <a:ea typeface="Source Serif 4" pitchFamily="18" charset="-122"/>
                <a:cs typeface="Source Serif 4" pitchFamily="18" charset="-120"/>
              </a:rPr>
              <a:t>Past the paper's best</a:t>
            </a:r>
            <a:endParaRPr lang="en-US" sz="3200" dirty="0"/>
          </a:p>
        </p:txBody>
      </p:sp>
      <p:sp>
        <p:nvSpPr>
          <p:cNvPr id="4" name="Text 2"/>
          <p:cNvSpPr/>
          <p:nvPr/>
        </p:nvSpPr>
        <p:spPr>
          <a:xfrm>
            <a:off x="812774" y="1821042"/>
            <a:ext cx="1544321" cy="665504"/>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EC0D6"/>
                </a:solidFill>
                <a:latin typeface="Source Serif 4" pitchFamily="18" charset="0"/>
                <a:ea typeface="Source Serif 4" pitchFamily="18" charset="-122"/>
                <a:cs typeface="Source Serif 4" pitchFamily="18" charset="-120"/>
              </a:rPr>
              <a:t>90.6%</a:t>
            </a:r>
            <a:endParaRPr lang="en-US" sz="3600" dirty="0"/>
          </a:p>
        </p:txBody>
      </p:sp>
      <p:sp>
        <p:nvSpPr>
          <p:cNvPr id="5" name="Text 3"/>
          <p:cNvSpPr/>
          <p:nvPr/>
        </p:nvSpPr>
        <p:spPr>
          <a:xfrm>
            <a:off x="812774" y="2486506"/>
            <a:ext cx="14173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C0D6"/>
                </a:solidFill>
                <a:latin typeface="IBM Plex Sans" pitchFamily="34" charset="0"/>
                <a:ea typeface="IBM Plex Sans" pitchFamily="34" charset="-122"/>
                <a:cs typeface="IBM Plex Sans" pitchFamily="34" charset="-120"/>
              </a:rPr>
              <a:t>paper best</a:t>
            </a:r>
            <a:endParaRPr lang="en-US" sz="1200" dirty="0"/>
          </a:p>
        </p:txBody>
      </p:sp>
      <p:pic>
        <p:nvPicPr>
          <p:cNvPr id="6" name="Image 0" descr="arrow-right"/>
          <p:cNvPicPr>
            <a:picLocks noChangeAspect="1"/>
          </p:cNvPicPr>
          <p:nvPr/>
        </p:nvPicPr>
        <p:blipFill>
          <a:blip r:embed="rId3"/>
          <a:srcRect l="-4" r="-4"/>
          <a:stretch/>
        </p:blipFill>
        <p:spPr>
          <a:xfrm>
            <a:off x="2357095" y="2133414"/>
            <a:ext cx="533372" cy="253969"/>
          </a:xfrm>
          <a:prstGeom prst="rect">
            <a:avLst/>
          </a:prstGeom>
        </p:spPr>
      </p:pic>
      <p:sp>
        <p:nvSpPr>
          <p:cNvPr id="7" name="Text 4"/>
          <p:cNvSpPr/>
          <p:nvPr/>
        </p:nvSpPr>
        <p:spPr>
          <a:xfrm>
            <a:off x="3068209" y="1821042"/>
            <a:ext cx="1544321" cy="665504"/>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BFBF8"/>
                </a:solidFill>
                <a:latin typeface="Source Serif 4" pitchFamily="18" charset="0"/>
                <a:ea typeface="Source Serif 4" pitchFamily="18" charset="-122"/>
                <a:cs typeface="Source Serif 4" pitchFamily="18" charset="-120"/>
              </a:rPr>
              <a:t>91.6%</a:t>
            </a:r>
            <a:endParaRPr lang="en-US" sz="3600" dirty="0"/>
          </a:p>
        </p:txBody>
      </p:sp>
      <p:sp>
        <p:nvSpPr>
          <p:cNvPr id="8" name="Text 5"/>
          <p:cNvSpPr/>
          <p:nvPr/>
        </p:nvSpPr>
        <p:spPr>
          <a:xfrm>
            <a:off x="3068209" y="2486506"/>
            <a:ext cx="14173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C0D6"/>
                </a:solidFill>
                <a:latin typeface="IBM Plex Sans" pitchFamily="34" charset="0"/>
                <a:ea typeface="IBM Plex Sans" pitchFamily="34" charset="-122"/>
                <a:cs typeface="IBM Plex Sans" pitchFamily="34" charset="-120"/>
              </a:rPr>
              <a:t>NB-LR (best single)</a:t>
            </a:r>
            <a:endParaRPr lang="en-US" sz="1200" dirty="0"/>
          </a:p>
        </p:txBody>
      </p:sp>
      <p:pic>
        <p:nvPicPr>
          <p:cNvPr id="9" name="Image 1" descr="arrow-right"/>
          <p:cNvPicPr>
            <a:picLocks noChangeAspect="1"/>
          </p:cNvPicPr>
          <p:nvPr/>
        </p:nvPicPr>
        <p:blipFill>
          <a:blip r:embed="rId4"/>
          <a:srcRect l="-4" r="-4"/>
          <a:stretch/>
        </p:blipFill>
        <p:spPr>
          <a:xfrm>
            <a:off x="4612531" y="2133414"/>
            <a:ext cx="533372" cy="253969"/>
          </a:xfrm>
          <a:prstGeom prst="rect">
            <a:avLst/>
          </a:prstGeom>
        </p:spPr>
      </p:pic>
      <p:sp>
        <p:nvSpPr>
          <p:cNvPr id="10" name="Text 6"/>
          <p:cNvSpPr/>
          <p:nvPr/>
        </p:nvSpPr>
        <p:spPr>
          <a:xfrm>
            <a:off x="5323645" y="1821042"/>
            <a:ext cx="1639895" cy="665504"/>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77D34"/>
                </a:solidFill>
                <a:latin typeface="Source Serif 4" pitchFamily="18" charset="0"/>
                <a:ea typeface="Source Serif 4" pitchFamily="18" charset="-122"/>
                <a:cs typeface="Source Serif 4" pitchFamily="18" charset="-120"/>
              </a:rPr>
              <a:t>91.8%</a:t>
            </a:r>
            <a:endParaRPr lang="en-US" sz="3600" dirty="0"/>
          </a:p>
        </p:txBody>
      </p:sp>
      <p:sp>
        <p:nvSpPr>
          <p:cNvPr id="11" name="Text 7"/>
          <p:cNvSpPr/>
          <p:nvPr/>
        </p:nvSpPr>
        <p:spPr>
          <a:xfrm>
            <a:off x="5323645" y="2486506"/>
            <a:ext cx="14173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77D34"/>
                </a:solidFill>
                <a:latin typeface="IBM Plex Sans" pitchFamily="34" charset="0"/>
                <a:ea typeface="IBM Plex Sans" pitchFamily="34" charset="-122"/>
                <a:cs typeface="IBM Plex Sans" pitchFamily="34" charset="-120"/>
              </a:rPr>
              <a:t>ensemble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049" y="2963070"/>
          <a:ext cx="10557150" cy="2179210"/>
        </p:xfrm>
        <a:graphic>
          <a:graphicData uri="http://schemas.openxmlformats.org/drawingml/2006/table">
            <a:tbl>
              <a:tblPr/>
              <a:tblGrid>
                <a:gridCol w="5489718">
                  <a:extLst>
                    <a:ext uri="{9D8B030D-6E8A-4147-A177-3AD203B41FA5}">
                      <a16:colId xmlns:a16="http://schemas.microsoft.com/office/drawing/2014/main" val="20000"/>
                    </a:ext>
                  </a:extLst>
                </a:gridCol>
                <a:gridCol w="2744859">
                  <a:extLst>
                    <a:ext uri="{9D8B030D-6E8A-4147-A177-3AD203B41FA5}">
                      <a16:colId xmlns:a16="http://schemas.microsoft.com/office/drawing/2014/main" val="20001"/>
                    </a:ext>
                  </a:extLst>
                </a:gridCol>
                <a:gridCol w="2322573">
                  <a:extLst>
                    <a:ext uri="{9D8B030D-6E8A-4147-A177-3AD203B41FA5}">
                      <a16:colId xmlns:a16="http://schemas.microsoft.com/office/drawing/2014/main" val="20002"/>
                    </a:ext>
                  </a:extLst>
                </a:gridCol>
              </a:tblGrid>
              <a:tr h="435842">
                <a:tc>
                  <a:txBody>
                    <a:bodyPr/>
                    <a:lstStyle/>
                    <a:p>
                      <a:pPr marL="0" indent="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5C7FA3"/>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5C7FA3"/>
                      </a:solidFill>
                      <a:prstDash val="solid"/>
                      <a:round/>
                      <a:headEnd type="none" w="med" len="med"/>
                      <a:tailEnd type="none" w="med" len="med"/>
                    </a:lnB>
                    <a:solidFill>
                      <a:srgbClr val="2F5D8C"/>
                    </a:solidFill>
                  </a:tcPr>
                </a:tc>
                <a:tc>
                  <a:txBody>
                    <a:bodyPr/>
                    <a:lstStyle/>
                    <a:p>
                      <a:pPr marL="0" indent="0" algn="r">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152400" marR="152400" marT="88900" marB="88900">
                    <a:lnL w="12700" cap="flat" cmpd="sng" algn="ctr">
                      <a:solidFill>
                        <a:srgbClr val="5C7FA3"/>
                      </a:solidFill>
                      <a:prstDash val="solid"/>
                      <a:round/>
                      <a:headEnd type="none" w="med" len="med"/>
                      <a:tailEnd type="none" w="med" len="med"/>
                    </a:lnL>
                    <a:lnR w="12700" cap="flat" cmpd="sng" algn="ctr">
                      <a:solidFill>
                        <a:srgbClr val="5C7FA3"/>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5C7FA3"/>
                      </a:solidFill>
                      <a:prstDash val="solid"/>
                      <a:round/>
                      <a:headEnd type="none" w="med" len="med"/>
                      <a:tailEnd type="none" w="med" len="med"/>
                    </a:lnB>
                    <a:solidFill>
                      <a:srgbClr val="2F5D8C"/>
                    </a:solidFill>
                  </a:tcPr>
                </a:tc>
                <a:tc>
                  <a:txBody>
                    <a:bodyPr/>
                    <a:lstStyle/>
                    <a:p>
                      <a:pPr marL="0" indent="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vs 90.6%</a:t>
                      </a:r>
                      <a:endParaRPr lang="en-US" sz="1400" dirty="0">
                        <a:latin typeface="IBM Plex Sans" charset="0"/>
                        <a:ea typeface="IBM Plex Sans" charset="0"/>
                        <a:cs typeface="IBM Plex Sans" charset="0"/>
                      </a:endParaRPr>
                    </a:p>
                  </a:txBody>
                  <a:tcPr marL="152400" marR="152400" marT="88900" marB="88900">
                    <a:lnL w="12700" cap="flat" cmpd="sng" algn="ctr">
                      <a:solidFill>
                        <a:srgbClr val="5C7FA3"/>
                      </a:solidFill>
                      <a:prstDash val="solid"/>
                      <a:round/>
                      <a:headEnd type="none" w="med" len="med"/>
                      <a:tailEnd type="none" w="med" len="med"/>
                    </a:lnL>
                    <a:lnR w="12700" cap="flat" cmpd="sng" algn="ctr">
                      <a:solidFill>
                        <a:srgbClr val="5C7FA3"/>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5C7FA3"/>
                      </a:solidFill>
                      <a:prstDash val="solid"/>
                      <a:round/>
                      <a:headEnd type="none" w="med" len="med"/>
                      <a:tailEnd type="none" w="med" len="med"/>
                    </a:lnB>
                    <a:solidFill>
                      <a:srgbClr val="2F5D8C"/>
                    </a:solidFill>
                  </a:tcPr>
                </a:tc>
                <a:extLst>
                  <a:ext uri="{0D108BD9-81ED-4DB2-BD59-A6C34878D82A}">
                    <a16:rowId xmlns:a16="http://schemas.microsoft.com/office/drawing/2014/main" val="10000"/>
                  </a:ext>
                </a:extLst>
              </a:tr>
              <a:tr h="435842">
                <a:tc>
                  <a:txBody>
                    <a:bodyPr/>
                    <a:lstStyle/>
                    <a:p>
                      <a:pPr marL="0" indent="0">
                        <a:lnSpc>
                          <a:spcPts val="1960"/>
                        </a:lnSpc>
                        <a:buNone/>
                      </a:pPr>
                      <a:r>
                        <a:rPr lang="en-US" sz="1400" dirty="0">
                          <a:solidFill>
                            <a:srgbClr val="EAF0F7"/>
                          </a:solidFill>
                          <a:latin typeface="IBM Plex Sans" pitchFamily="34" charset="0"/>
                          <a:ea typeface="IBM Plex Sans" pitchFamily="34" charset="-122"/>
                          <a:cs typeface="IBM Plex Sans" pitchFamily="34" charset="-120"/>
                        </a:rPr>
                        <a:t>Ensemble: NB-LR + SVM (tf-idf)</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5C7FA3"/>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dirty="0">
                          <a:solidFill>
                            <a:srgbClr val="C77D34"/>
                          </a:solidFill>
                          <a:latin typeface="IBM Plex Sans" pitchFamily="34" charset="0"/>
                          <a:ea typeface="IBM Plex Sans" pitchFamily="34" charset="-122"/>
                          <a:cs typeface="IBM Plex Sans" pitchFamily="34" charset="-120"/>
                        </a:rPr>
                        <a:t>0.9182</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5C7FA3"/>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dirty="0">
                          <a:solidFill>
                            <a:srgbClr val="C77D34"/>
                          </a:solidFill>
                          <a:latin typeface="IBM Plex Sans" pitchFamily="34" charset="0"/>
                          <a:ea typeface="IBM Plex Sans" pitchFamily="34" charset="-122"/>
                          <a:cs typeface="IBM Plex Sans" pitchFamily="34" charset="-120"/>
                        </a:rPr>
                        <a:t>+0.0122</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5C7FA3"/>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1"/>
                  </a:ext>
                </a:extLst>
              </a:tr>
              <a:tr h="435842">
                <a:tc>
                  <a:txBody>
                    <a:bodyPr/>
                    <a:lstStyle/>
                    <a:p>
                      <a:pPr marL="0" indent="0">
                        <a:lnSpc>
                          <a:spcPts val="1960"/>
                        </a:lnSpc>
                        <a:buNone/>
                      </a:pPr>
                      <a:r>
                        <a:rPr lang="en-US" sz="1400" dirty="0">
                          <a:solidFill>
                            <a:srgbClr val="EAF0F7"/>
                          </a:solidFill>
                          <a:latin typeface="IBM Plex Sans" pitchFamily="34" charset="0"/>
                          <a:ea typeface="IBM Plex Sans" pitchFamily="34" charset="-122"/>
                          <a:cs typeface="IBM Plex Sans" pitchFamily="34" charset="-120"/>
                        </a:rPr>
                        <a:t>NB-LR</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dirty="0">
                          <a:solidFill>
                            <a:srgbClr val="EAF0F7"/>
                          </a:solidFill>
                          <a:latin typeface="IBM Plex Sans" pitchFamily="34" charset="0"/>
                          <a:ea typeface="IBM Plex Sans" pitchFamily="34" charset="-122"/>
                          <a:cs typeface="IBM Plex Sans" pitchFamily="34" charset="-120"/>
                        </a:rPr>
                        <a:t>0.9160</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dirty="0">
                          <a:solidFill>
                            <a:srgbClr val="9FD0B0"/>
                          </a:solidFill>
                          <a:latin typeface="IBM Plex Sans" pitchFamily="34" charset="0"/>
                          <a:ea typeface="IBM Plex Sans" pitchFamily="34" charset="-122"/>
                          <a:cs typeface="IBM Plex Sans" pitchFamily="34" charset="-120"/>
                        </a:rPr>
                        <a:t>+0.0100</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2"/>
                  </a:ext>
                </a:extLst>
              </a:tr>
              <a:tr h="435842">
                <a:tc>
                  <a:txBody>
                    <a:bodyPr/>
                    <a:lstStyle/>
                    <a:p>
                      <a:pPr marL="0" indent="0">
                        <a:lnSpc>
                          <a:spcPts val="1960"/>
                        </a:lnSpc>
                        <a:buNone/>
                      </a:pPr>
                      <a:r>
                        <a:rPr lang="en-US" sz="1400" dirty="0">
                          <a:solidFill>
                            <a:srgbClr val="EAF0F7"/>
                          </a:solidFill>
                          <a:latin typeface="IBM Plex Sans" pitchFamily="34" charset="0"/>
                          <a:ea typeface="IBM Plex Sans" pitchFamily="34" charset="-122"/>
                          <a:cs typeface="IBM Plex Sans" pitchFamily="34" charset="-120"/>
                        </a:rPr>
                        <a:t>NB-SVM</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dirty="0">
                          <a:solidFill>
                            <a:srgbClr val="EAF0F7"/>
                          </a:solidFill>
                          <a:latin typeface="IBM Plex Sans" pitchFamily="34" charset="0"/>
                          <a:ea typeface="IBM Plex Sans" pitchFamily="34" charset="-122"/>
                          <a:cs typeface="IBM Plex Sans" pitchFamily="34" charset="-120"/>
                        </a:rPr>
                        <a:t>0.9157</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dirty="0">
                          <a:solidFill>
                            <a:srgbClr val="9FD0B0"/>
                          </a:solidFill>
                          <a:latin typeface="IBM Plex Sans" pitchFamily="34" charset="0"/>
                          <a:ea typeface="IBM Plex Sans" pitchFamily="34" charset="-122"/>
                          <a:cs typeface="IBM Plex Sans" pitchFamily="34" charset="-120"/>
                        </a:rPr>
                        <a:t>+0.0097</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3"/>
                  </a:ext>
                </a:extLst>
              </a:tr>
              <a:tr h="435842">
                <a:tc>
                  <a:txBody>
                    <a:bodyPr/>
                    <a:lstStyle/>
                    <a:p>
                      <a:pPr marL="0" indent="0">
                        <a:lnSpc>
                          <a:spcPts val="1960"/>
                        </a:lnSpc>
                        <a:buNone/>
                      </a:pPr>
                      <a:r>
                        <a:rPr lang="en-US" sz="1400" dirty="0">
                          <a:solidFill>
                            <a:srgbClr val="EAF0F7"/>
                          </a:solidFill>
                          <a:latin typeface="IBM Plex Sans" pitchFamily="34" charset="0"/>
                          <a:ea typeface="IBM Plex Sans" pitchFamily="34" charset="-122"/>
                          <a:cs typeface="IBM Plex Sans" pitchFamily="34" charset="-120"/>
                        </a:rPr>
                        <a:t>SVM, wider C grid (tf-idf)</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dirty="0">
                          <a:solidFill>
                            <a:srgbClr val="EAF0F7"/>
                          </a:solidFill>
                          <a:latin typeface="IBM Plex Sans" pitchFamily="34" charset="0"/>
                          <a:ea typeface="IBM Plex Sans" pitchFamily="34" charset="-122"/>
                          <a:cs typeface="IBM Plex Sans" pitchFamily="34" charset="-120"/>
                        </a:rPr>
                        <a:t>0.9089</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dirty="0">
                          <a:solidFill>
                            <a:srgbClr val="9FD0B0"/>
                          </a:solidFill>
                          <a:latin typeface="IBM Plex Sans" pitchFamily="34" charset="0"/>
                          <a:ea typeface="IBM Plex Sans" pitchFamily="34" charset="-122"/>
                          <a:cs typeface="IBM Plex Sans" pitchFamily="34" charset="-120"/>
                        </a:rPr>
                        <a:t>+0.0029</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8"/>
          <p:cNvSpPr/>
          <p:nvPr/>
        </p:nvSpPr>
        <p:spPr>
          <a:xfrm>
            <a:off x="812774" y="5396247"/>
            <a:ext cx="10883418"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C0D6"/>
                </a:solidFill>
                <a:latin typeface="IBM Plex Sans" pitchFamily="34" charset="0"/>
                <a:ea typeface="IBM Plex Sans" pitchFamily="34" charset="-122"/>
                <a:cs typeface="IBM Plex Sans" pitchFamily="34" charset="-120"/>
              </a:rPr>
              <a:t>All accuracies on the 25,000 test reviews — chosen on validation data, never on the test set.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IMPROVEMENT · THE NEW CLASSIFIERS</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Four of our five new classifiers beat the paper</a:t>
            </a:r>
            <a:endParaRPr lang="en-US" sz="3200" dirty="0"/>
          </a:p>
        </p:txBody>
      </p:sp>
      <p:sp>
        <p:nvSpPr>
          <p:cNvPr id="4" name="Chart card"/>
          <p:cNvSpPr/>
          <p:nvPr/>
        </p:nvSpPr>
        <p:spPr>
          <a:xfrm>
            <a:off x="812774" y="1783080"/>
            <a:ext cx="6172200"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art heading"/>
          <p:cNvSpPr txBox="1"/>
          <p:nvPr/>
        </p:nvSpPr>
        <p:spPr>
          <a:xfrm>
            <a:off x="1041374" y="1984248"/>
            <a:ext cx="5715000" cy="274320"/>
          </a:xfrm>
          <a:prstGeom prst="rect">
            <a:avLst/>
          </a:prstGeom>
          <a:noFill/>
        </p:spPr>
        <p:txBody>
          <a:bodyPr wrap="square" lIns="0" tIns="0" rIns="0" bIns="0" anchor="t">
            <a:spAutoFit/>
          </a:bodyPr>
          <a:lstStyle/>
          <a:p>
            <a:pPr algn="l"/>
            <a:r>
              <a:rPr sz="1350" b="1">
                <a:solidFill>
                  <a:srgbClr val="8A93A6"/>
                </a:solidFill>
                <a:latin typeface="IBM Plex Sans"/>
              </a:rPr>
              <a:t>Test accuracy of each new classifier</a:t>
            </a:r>
          </a:p>
        </p:txBody>
      </p:sp>
      <p:graphicFrame>
        <p:nvGraphicFramePr>
          <p:cNvPr id="6" name="Accuracy chart"/>
          <p:cNvGraphicFramePr>
            <a:graphicFrameLocks noGrp="1"/>
          </p:cNvGraphicFramePr>
          <p:nvPr/>
        </p:nvGraphicFramePr>
        <p:xfrm>
          <a:off x="922502" y="2286000"/>
          <a:ext cx="58978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fusion matrix card"/>
          <p:cNvSpPr/>
          <p:nvPr/>
        </p:nvSpPr>
        <p:spPr>
          <a:xfrm>
            <a:off x="7259294" y="1783080"/>
            <a:ext cx="4119932" cy="3566160"/>
          </a:xfrm>
          <a:prstGeom prst="roundRect">
            <a:avLst>
              <a:gd name="adj" fmla="val 25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usion matrix heading"/>
          <p:cNvSpPr txBox="1"/>
          <p:nvPr/>
        </p:nvSpPr>
        <p:spPr>
          <a:xfrm>
            <a:off x="7487894" y="1984248"/>
            <a:ext cx="3662732" cy="274320"/>
          </a:xfrm>
          <a:prstGeom prst="rect">
            <a:avLst/>
          </a:prstGeom>
          <a:noFill/>
        </p:spPr>
        <p:txBody>
          <a:bodyPr wrap="square" lIns="0" tIns="0" rIns="0" bIns="0" anchor="t">
            <a:spAutoFit/>
          </a:bodyPr>
          <a:lstStyle/>
          <a:p>
            <a:pPr algn="l"/>
            <a:r>
              <a:rPr sz="1350" b="1">
                <a:solidFill>
                  <a:srgbClr val="8A93A6"/>
                </a:solidFill>
                <a:latin typeface="IBM Plex Sans"/>
              </a:rPr>
              <a:t>Confusion matrix · ensemble</a:t>
            </a:r>
          </a:p>
        </p:txBody>
      </p:sp>
      <p:sp>
        <p:nvSpPr>
          <p:cNvPr id="9" name="TextBox 8"/>
          <p:cNvSpPr txBox="1"/>
          <p:nvPr/>
        </p:nvSpPr>
        <p:spPr>
          <a:xfrm>
            <a:off x="7487894" y="2651760"/>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negative</a:t>
            </a:r>
          </a:p>
        </p:txBody>
      </p:sp>
      <p:sp>
        <p:nvSpPr>
          <p:cNvPr id="10" name="Cell TN"/>
          <p:cNvSpPr/>
          <p:nvPr/>
        </p:nvSpPr>
        <p:spPr>
          <a:xfrm>
            <a:off x="8356574" y="2651760"/>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11,395</a:t>
            </a:r>
          </a:p>
          <a:p>
            <a:pPr algn="ctr"/>
            <a:r>
              <a:rPr sz="1100">
                <a:solidFill>
                  <a:srgbClr val="AEC0D6"/>
                </a:solidFill>
                <a:latin typeface="IBM Plex Sans"/>
              </a:rPr>
              <a:t>true negative</a:t>
            </a:r>
          </a:p>
        </p:txBody>
      </p:sp>
      <p:sp>
        <p:nvSpPr>
          <p:cNvPr id="11" name="Cell FP"/>
          <p:cNvSpPr/>
          <p:nvPr/>
        </p:nvSpPr>
        <p:spPr>
          <a:xfrm>
            <a:off x="9790176" y="2651760"/>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1,105</a:t>
            </a:r>
          </a:p>
          <a:p>
            <a:pPr algn="ctr"/>
            <a:r>
              <a:rPr sz="1100">
                <a:solidFill>
                  <a:srgbClr val="4A5568"/>
                </a:solidFill>
                <a:latin typeface="IBM Plex Sans"/>
              </a:rPr>
              <a:t>false positive</a:t>
            </a:r>
          </a:p>
        </p:txBody>
      </p:sp>
      <p:sp>
        <p:nvSpPr>
          <p:cNvPr id="12" name="TextBox 11"/>
          <p:cNvSpPr txBox="1"/>
          <p:nvPr/>
        </p:nvSpPr>
        <p:spPr>
          <a:xfrm>
            <a:off x="7487894" y="3593592"/>
            <a:ext cx="777240" cy="868680"/>
          </a:xfrm>
          <a:prstGeom prst="rect">
            <a:avLst/>
          </a:prstGeom>
          <a:noFill/>
        </p:spPr>
        <p:txBody>
          <a:bodyPr wrap="square" lIns="0" tIns="0" rIns="0" bIns="0" anchor="ctr">
            <a:spAutoFit/>
          </a:bodyPr>
          <a:lstStyle/>
          <a:p>
            <a:pPr algn="l"/>
            <a:r>
              <a:rPr sz="1200" b="0">
                <a:solidFill>
                  <a:srgbClr val="4A5568"/>
                </a:solidFill>
                <a:latin typeface="IBM Plex Sans"/>
              </a:rPr>
              <a:t>Actual
positive</a:t>
            </a:r>
          </a:p>
        </p:txBody>
      </p:sp>
      <p:sp>
        <p:nvSpPr>
          <p:cNvPr id="13" name="Cell FN"/>
          <p:cNvSpPr/>
          <p:nvPr/>
        </p:nvSpPr>
        <p:spPr>
          <a:xfrm>
            <a:off x="8356574" y="3593592"/>
            <a:ext cx="1360450" cy="8686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C2541"/>
                </a:solidFill>
                <a:latin typeface="IBM Plex Sans"/>
              </a:rPr>
              <a:t>940</a:t>
            </a:r>
          </a:p>
          <a:p>
            <a:pPr algn="ctr"/>
            <a:r>
              <a:rPr sz="1100">
                <a:solidFill>
                  <a:srgbClr val="4A5568"/>
                </a:solidFill>
                <a:latin typeface="IBM Plex Sans"/>
              </a:rPr>
              <a:t>false negative</a:t>
            </a:r>
          </a:p>
        </p:txBody>
      </p:sp>
      <p:sp>
        <p:nvSpPr>
          <p:cNvPr id="14" name="Cell TP"/>
          <p:cNvSpPr/>
          <p:nvPr/>
        </p:nvSpPr>
        <p:spPr>
          <a:xfrm>
            <a:off x="9790176" y="3593592"/>
            <a:ext cx="1360450" cy="868680"/>
          </a:xfrm>
          <a:prstGeom prst="roundRect">
            <a:avLst>
              <a:gd name="adj" fmla="val 8000"/>
            </a:avLst>
          </a:prstGeom>
          <a:solidFill>
            <a:srgbClr val="1C254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IBM Plex Sans"/>
              </a:rPr>
              <a:t>11,560</a:t>
            </a:r>
          </a:p>
          <a:p>
            <a:pPr algn="ctr"/>
            <a:r>
              <a:rPr sz="1100">
                <a:solidFill>
                  <a:srgbClr val="AEC0D6"/>
                </a:solidFill>
                <a:latin typeface="IBM Plex Sans"/>
              </a:rPr>
              <a:t>true positive</a:t>
            </a:r>
          </a:p>
        </p:txBody>
      </p:sp>
      <p:sp>
        <p:nvSpPr>
          <p:cNvPr id="15" name="TextBox 14"/>
          <p:cNvSpPr txBox="1"/>
          <p:nvPr/>
        </p:nvSpPr>
        <p:spPr>
          <a:xfrm>
            <a:off x="8356574"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negative</a:t>
            </a:r>
          </a:p>
        </p:txBody>
      </p:sp>
      <p:sp>
        <p:nvSpPr>
          <p:cNvPr id="16" name="TextBox 15"/>
          <p:cNvSpPr txBox="1"/>
          <p:nvPr/>
        </p:nvSpPr>
        <p:spPr>
          <a:xfrm>
            <a:off x="9790176" y="2414016"/>
            <a:ext cx="1360450" cy="182880"/>
          </a:xfrm>
          <a:prstGeom prst="rect">
            <a:avLst/>
          </a:prstGeom>
          <a:noFill/>
        </p:spPr>
        <p:txBody>
          <a:bodyPr wrap="square" lIns="0" tIns="0" rIns="0" bIns="0" anchor="t">
            <a:spAutoFit/>
          </a:bodyPr>
          <a:lstStyle/>
          <a:p>
            <a:pPr algn="ctr"/>
            <a:r>
              <a:rPr sz="1150" b="0">
                <a:solidFill>
                  <a:srgbClr val="4A5568"/>
                </a:solidFill>
                <a:latin typeface="IBM Plex Sans"/>
              </a:rPr>
              <a:t>Predicted positive</a:t>
            </a:r>
          </a:p>
        </p:txBody>
      </p:sp>
      <p:sp>
        <p:nvSpPr>
          <p:cNvPr id="17" name="Recall line"/>
          <p:cNvSpPr txBox="1"/>
          <p:nvPr/>
        </p:nvSpPr>
        <p:spPr>
          <a:xfrm>
            <a:off x="7487894" y="4645152"/>
            <a:ext cx="3662732" cy="457200"/>
          </a:xfrm>
          <a:prstGeom prst="rect">
            <a:avLst/>
          </a:prstGeom>
          <a:noFill/>
        </p:spPr>
        <p:txBody>
          <a:bodyPr wrap="square" lIns="0" tIns="0" rIns="0" bIns="0" anchor="t">
            <a:spAutoFit/>
          </a:bodyPr>
          <a:lstStyle/>
          <a:p>
            <a:pPr algn="l"/>
            <a:r>
              <a:rPr sz="1200" b="1">
                <a:solidFill>
                  <a:srgbClr val="4A5568"/>
                </a:solidFill>
                <a:latin typeface="IBM Plex Sans"/>
              </a:rPr>
              <a:t>Recall  </a:t>
            </a:r>
            <a:r>
              <a:rPr sz="1200" b="0">
                <a:solidFill>
                  <a:srgbClr val="4A5568"/>
                </a:solidFill>
                <a:latin typeface="IBM Plex Sans"/>
              </a:rPr>
              <a:t>negative 91.2%  ·  positive 92.5%</a:t>
            </a:r>
          </a:p>
        </p:txBody>
      </p:sp>
      <p:sp>
        <p:nvSpPr>
          <p:cNvPr id="18" name="Caption"/>
          <p:cNvSpPr txBox="1"/>
          <p:nvPr/>
        </p:nvSpPr>
        <p:spPr>
          <a:xfrm>
            <a:off x="812774" y="5596128"/>
            <a:ext cx="10566452" cy="548640"/>
          </a:xfrm>
          <a:prstGeom prst="rect">
            <a:avLst/>
          </a:prstGeom>
          <a:noFill/>
        </p:spPr>
        <p:txBody>
          <a:bodyPr wrap="square" lIns="0" tIns="0" rIns="0" bIns="0" anchor="t">
            <a:spAutoFit/>
          </a:bodyPr>
          <a:lstStyle/>
          <a:p>
            <a:pPr algn="l"/>
            <a:r>
              <a:rPr sz="1250" b="1">
                <a:solidFill>
                  <a:srgbClr val="4A5568"/>
                </a:solidFill>
                <a:latin typeface="IBM Plex Sans"/>
              </a:rPr>
              <a:t>ROC-AUC </a:t>
            </a:r>
            <a:r>
              <a:rPr sz="1250" b="0">
                <a:solidFill>
                  <a:srgbClr val="4A5568"/>
                </a:solidFill>
                <a:latin typeface="IBM Plex Sans"/>
              </a:rPr>
              <a:t>Ensemble 0.974, NB-LR 0.972, NB-SVM 0.972, SVM (wide C) 0.968, MLP 0.958.  </a:t>
            </a:r>
            <a:r>
              <a:rPr sz="1250" b="1">
                <a:solidFill>
                  <a:srgbClr val="4A5568"/>
                </a:solidFill>
                <a:latin typeface="IBM Plex Sans"/>
              </a:rPr>
              <a:t>SVM (wide C) </a:t>
            </a:r>
            <a:r>
              <a:rPr sz="1250" b="0">
                <a:solidFill>
                  <a:srgbClr val="4A5568"/>
                </a:solidFill>
                <a:latin typeface="IBM Plex Sans"/>
              </a:rPr>
              <a:t>uses tf-idf with C =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2"/>
            <a:ext cx="10883418" cy="256545"/>
          </a:xfrm>
          <a:prstGeom prst="rect">
            <a:avLst/>
          </a:prstGeom>
          <a:noFill/>
          <a:ln/>
        </p:spPr>
        <p:txBody>
          <a:bodyPr wrap="square" lIns="0" tIns="0" rIns="0" bIns="0" rtlCol="0" anchor="t">
            <a:normAutofit/>
          </a:bodyPr>
          <a:lstStyle/>
          <a:p>
            <a:pPr marL="0" indent="0" algn="l">
              <a:lnSpc>
                <a:spcPts val="1820"/>
              </a:lnSpc>
              <a:buNone/>
            </a:pPr>
            <a:r>
              <a:rPr lang="en-GB" sz="1300" b="1" kern="0" spc="150">
                <a:solidFill>
                  <a:srgbClr val="C77D34"/>
                </a:solidFill>
                <a:latin typeface="IBM Plex Sans" pitchFamily="34" charset="0"/>
                <a:ea typeface="IBM Plex Sans" pitchFamily="34" charset="-122"/>
                <a:cs typeface="IBM Plex Sans" pitchFamily="34" charset="-120"/>
              </a:rPr>
              <a:t>WHY THE N-GRAM GAINS WORKED</a:t>
            </a:r>
            <a:endParaRPr lang="en-US" sz="1300" dirty="0"/>
          </a:p>
        </p:txBody>
      </p:sp>
      <p:sp>
        <p:nvSpPr>
          <p:cNvPr id="3" name="Text 1"/>
          <p:cNvSpPr>
            <a:spLocks noGrp="1"/>
          </p:cNvSpPr>
          <p:nvPr>
            <p:ph type="title"/>
          </p:nvPr>
        </p:nvSpPr>
        <p:spPr>
          <a:xfrm>
            <a:off x="812774" y="1120071"/>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Simple changes, not a bigger model</a:t>
            </a:r>
            <a:endParaRPr lang="en-US" sz="3200" dirty="0"/>
          </a:p>
        </p:txBody>
      </p:sp>
      <p:sp>
        <p:nvSpPr>
          <p:cNvPr id="4" name="Shape 2"/>
          <p:cNvSpPr/>
          <p:nvPr/>
        </p:nvSpPr>
        <p:spPr>
          <a:xfrm>
            <a:off x="815949" y="1824217"/>
            <a:ext cx="5187955" cy="1201689"/>
          </a:xfrm>
          <a:prstGeom prst="roundRect">
            <a:avLst>
              <a:gd name="adj" fmla="val 7134"/>
            </a:avLst>
          </a:prstGeom>
          <a:solidFill>
            <a:srgbClr val="FFFFFF"/>
          </a:solidFill>
          <a:ln w="6350">
            <a:solidFill>
              <a:srgbClr val="DDE3EC"/>
            </a:solidFill>
            <a:prstDash val="solid"/>
          </a:ln>
        </p:spPr>
      </p:sp>
      <p:sp>
        <p:nvSpPr>
          <p:cNvPr id="5" name="Text 3"/>
          <p:cNvSpPr/>
          <p:nvPr/>
        </p:nvSpPr>
        <p:spPr>
          <a:xfrm>
            <a:off x="1033267" y="2028856"/>
            <a:ext cx="4895918"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D8C"/>
                </a:solidFill>
                <a:latin typeface="IBM Plex Sans" pitchFamily="34" charset="0"/>
                <a:ea typeface="IBM Plex Sans" pitchFamily="34" charset="-122"/>
                <a:cs typeface="IBM Plex Sans" pitchFamily="34" charset="-120"/>
              </a:rPr>
              <a:t>NB-scaled features  </a:t>
            </a:r>
            <a:r>
              <a:rPr lang="en-US" sz="1500" b="1" dirty="0">
                <a:solidFill>
                  <a:srgbClr val="C77D34"/>
                </a:solidFill>
                <a:latin typeface="IBM Plex Sans" pitchFamily="34" charset="0"/>
                <a:ea typeface="IBM Plex Sans" pitchFamily="34" charset="-122"/>
                <a:cs typeface="IBM Plex Sans" pitchFamily="34" charset="-120"/>
              </a:rPr>
              <a:t>+1.3 pts</a:t>
            </a:r>
            <a:endParaRPr lang="en-US" sz="1500" dirty="0"/>
          </a:p>
        </p:txBody>
      </p:sp>
      <p:sp>
        <p:nvSpPr>
          <p:cNvPr id="6" name="Text 4"/>
          <p:cNvSpPr/>
          <p:nvPr/>
        </p:nvSpPr>
        <p:spPr>
          <a:xfrm>
            <a:off x="1033267" y="2358978"/>
            <a:ext cx="4895918"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NB-SVM / NB-LR (Wang &amp; Manning, 2012): scale each n-gram by its Naive Bayes log-count ratio, then fit a linear model.</a:t>
            </a:r>
            <a:endParaRPr lang="en-US" sz="1300" dirty="0"/>
          </a:p>
        </p:txBody>
      </p:sp>
      <p:sp>
        <p:nvSpPr>
          <p:cNvPr id="7" name="Shape 5"/>
          <p:cNvSpPr/>
          <p:nvPr/>
        </p:nvSpPr>
        <p:spPr>
          <a:xfrm>
            <a:off x="6187996" y="1824217"/>
            <a:ext cx="5188028" cy="1201689"/>
          </a:xfrm>
          <a:prstGeom prst="roundRect">
            <a:avLst>
              <a:gd name="adj" fmla="val 7134"/>
            </a:avLst>
          </a:prstGeom>
          <a:solidFill>
            <a:srgbClr val="FFFFFF"/>
          </a:solidFill>
          <a:ln w="6350">
            <a:solidFill>
              <a:srgbClr val="DDE3EC"/>
            </a:solidFill>
            <a:prstDash val="solid"/>
          </a:ln>
        </p:spPr>
      </p:sp>
      <p:sp>
        <p:nvSpPr>
          <p:cNvPr id="8" name="Text 6"/>
          <p:cNvSpPr/>
          <p:nvPr/>
        </p:nvSpPr>
        <p:spPr>
          <a:xfrm>
            <a:off x="6405314" y="2028856"/>
            <a:ext cx="4895993"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D8C"/>
                </a:solidFill>
                <a:latin typeface="IBM Plex Sans" pitchFamily="34" charset="0"/>
                <a:ea typeface="IBM Plex Sans" pitchFamily="34" charset="-122"/>
                <a:cs typeface="IBM Plex Sans" pitchFamily="34" charset="-120"/>
              </a:rPr>
              <a:t>Keep negations  </a:t>
            </a:r>
            <a:r>
              <a:rPr lang="en-US" sz="1500" b="1" dirty="0">
                <a:solidFill>
                  <a:srgbClr val="C77D34"/>
                </a:solidFill>
                <a:latin typeface="IBM Plex Sans" pitchFamily="34" charset="0"/>
                <a:ea typeface="IBM Plex Sans" pitchFamily="34" charset="-122"/>
                <a:cs typeface="IBM Plex Sans" pitchFamily="34" charset="-120"/>
              </a:rPr>
              <a:t>+1.3–1.7 pts</a:t>
            </a:r>
            <a:endParaRPr lang="en-US" sz="1500" dirty="0"/>
          </a:p>
        </p:txBody>
      </p:sp>
      <p:sp>
        <p:nvSpPr>
          <p:cNvPr id="9" name="Text 7"/>
          <p:cNvSpPr/>
          <p:nvPr/>
        </p:nvSpPr>
        <p:spPr>
          <a:xfrm>
            <a:off x="6405314" y="2358978"/>
            <a:ext cx="4895993"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Lighter cleaning. Deleting NLTK's full stop-word list removes “not” and “no” — and costs accuracy.</a:t>
            </a:r>
            <a:endParaRPr lang="en-US" sz="1300" dirty="0"/>
          </a:p>
        </p:txBody>
      </p:sp>
      <p:sp>
        <p:nvSpPr>
          <p:cNvPr id="10" name="Shape 8"/>
          <p:cNvSpPr/>
          <p:nvPr/>
        </p:nvSpPr>
        <p:spPr>
          <a:xfrm>
            <a:off x="815949" y="3209999"/>
            <a:ext cx="5187955" cy="1201689"/>
          </a:xfrm>
          <a:prstGeom prst="roundRect">
            <a:avLst>
              <a:gd name="adj" fmla="val 7134"/>
            </a:avLst>
          </a:prstGeom>
          <a:solidFill>
            <a:srgbClr val="FFFFFF"/>
          </a:solidFill>
          <a:ln w="6350">
            <a:solidFill>
              <a:srgbClr val="DDE3EC"/>
            </a:solidFill>
            <a:prstDash val="solid"/>
          </a:ln>
        </p:spPr>
      </p:sp>
      <p:sp>
        <p:nvSpPr>
          <p:cNvPr id="11" name="Text 9"/>
          <p:cNvSpPr/>
          <p:nvPr/>
        </p:nvSpPr>
        <p:spPr>
          <a:xfrm>
            <a:off x="1033267" y="3414635"/>
            <a:ext cx="4895918"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D8C"/>
                </a:solidFill>
                <a:latin typeface="IBM Plex Sans" pitchFamily="34" charset="0"/>
                <a:ea typeface="IBM Plex Sans" pitchFamily="34" charset="-122"/>
                <a:cs typeface="IBM Plex Sans" pitchFamily="34" charset="-120"/>
              </a:rPr>
              <a:t>Wider C grid</a:t>
            </a:r>
            <a:endParaRPr lang="en-US" sz="1500" dirty="0"/>
          </a:p>
        </p:txBody>
      </p:sp>
      <p:sp>
        <p:nvSpPr>
          <p:cNvPr id="12" name="Text 10"/>
          <p:cNvSpPr/>
          <p:nvPr/>
        </p:nvSpPr>
        <p:spPr>
          <a:xfrm>
            <a:off x="1033267" y="3744761"/>
            <a:ext cx="4895918"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paper stops at C = 1. On tf-idf the best C is </a:t>
            </a:r>
            <a:r>
              <a:rPr lang="en-US" sz="1300" b="1" dirty="0">
                <a:solidFill>
                  <a:srgbClr val="4A5568"/>
                </a:solidFill>
                <a:latin typeface="IBM Plex Sans" pitchFamily="34" charset="0"/>
                <a:ea typeface="IBM Plex Sans" pitchFamily="34" charset="-122"/>
                <a:cs typeface="IBM Plex Sans" pitchFamily="34" charset="-120"/>
              </a:rPr>
              <a:t>16</a:t>
            </a:r>
            <a:r>
              <a:rPr lang="en-US" sz="1300" dirty="0">
                <a:solidFill>
                  <a:srgbClr val="4A5568"/>
                </a:solidFill>
                <a:latin typeface="IBM Plex Sans" pitchFamily="34" charset="0"/>
                <a:ea typeface="IBM Plex Sans" pitchFamily="34" charset="-122"/>
                <a:cs typeface="IBM Plex Sans" pitchFamily="34" charset="-120"/>
              </a:rPr>
              <a:t> (SVM) and </a:t>
            </a:r>
            <a:r>
              <a:rPr lang="en-US" sz="1300" b="1" dirty="0">
                <a:solidFill>
                  <a:srgbClr val="4A5568"/>
                </a:solidFill>
                <a:latin typeface="IBM Plex Sans" pitchFamily="34" charset="0"/>
                <a:ea typeface="IBM Plex Sans" pitchFamily="34" charset="-122"/>
                <a:cs typeface="IBM Plex Sans" pitchFamily="34" charset="-120"/>
              </a:rPr>
              <a:t>64</a:t>
            </a:r>
            <a:r>
              <a:rPr lang="en-US" sz="1300" dirty="0">
                <a:solidFill>
                  <a:srgbClr val="4A5568"/>
                </a:solidFill>
                <a:latin typeface="IBM Plex Sans" pitchFamily="34" charset="0"/>
                <a:ea typeface="IBM Plex Sans" pitchFamily="34" charset="-122"/>
                <a:cs typeface="IBM Plex Sans" pitchFamily="34" charset="-120"/>
              </a:rPr>
              <a:t> (LR).</a:t>
            </a:r>
            <a:endParaRPr lang="en-US" sz="1300" dirty="0"/>
          </a:p>
        </p:txBody>
      </p:sp>
      <p:sp>
        <p:nvSpPr>
          <p:cNvPr id="13" name="Shape 11"/>
          <p:cNvSpPr/>
          <p:nvPr/>
        </p:nvSpPr>
        <p:spPr>
          <a:xfrm>
            <a:off x="6187996" y="3209999"/>
            <a:ext cx="5188028" cy="1201689"/>
          </a:xfrm>
          <a:prstGeom prst="roundRect">
            <a:avLst>
              <a:gd name="adj" fmla="val 7134"/>
            </a:avLst>
          </a:prstGeom>
          <a:solidFill>
            <a:srgbClr val="FFFFFF"/>
          </a:solidFill>
          <a:ln w="6350">
            <a:solidFill>
              <a:srgbClr val="DDE3EC"/>
            </a:solidFill>
            <a:prstDash val="solid"/>
          </a:ln>
        </p:spPr>
      </p:sp>
      <p:sp>
        <p:nvSpPr>
          <p:cNvPr id="14" name="Text 12"/>
          <p:cNvSpPr/>
          <p:nvPr/>
        </p:nvSpPr>
        <p:spPr>
          <a:xfrm>
            <a:off x="6405314" y="3414635"/>
            <a:ext cx="4895993"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D8C"/>
                </a:solidFill>
                <a:latin typeface="IBM Plex Sans" pitchFamily="34" charset="0"/>
                <a:ea typeface="IBM Plex Sans" pitchFamily="34" charset="-122"/>
                <a:cs typeface="IBM Plex Sans" pitchFamily="34" charset="-120"/>
              </a:rPr>
              <a:t>Ensemble</a:t>
            </a:r>
            <a:endParaRPr lang="en-US" sz="1500" dirty="0"/>
          </a:p>
        </p:txBody>
      </p:sp>
      <p:sp>
        <p:nvSpPr>
          <p:cNvPr id="15" name="Text 13"/>
          <p:cNvSpPr/>
          <p:nvPr/>
        </p:nvSpPr>
        <p:spPr>
          <a:xfrm>
            <a:off x="6405314" y="3744761"/>
            <a:ext cx="4895993"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Average NB-LR and the tf-idf SVM. ROC-AUC </a:t>
            </a:r>
            <a:r>
              <a:rPr lang="en-US" sz="1300" b="1" dirty="0">
                <a:solidFill>
                  <a:srgbClr val="4A5568"/>
                </a:solidFill>
                <a:latin typeface="IBM Plex Sans" pitchFamily="34" charset="0"/>
                <a:ea typeface="IBM Plex Sans" pitchFamily="34" charset="-122"/>
                <a:cs typeface="IBM Plex Sans" pitchFamily="34" charset="-120"/>
              </a:rPr>
              <a:t>0.9739</a:t>
            </a:r>
            <a:r>
              <a:rPr lang="en-US" sz="1300" dirty="0">
                <a:solidFill>
                  <a:srgbClr val="4A5568"/>
                </a:solidFill>
                <a:latin typeface="IBM Plex Sans" pitchFamily="34" charset="0"/>
                <a:ea typeface="IBM Plex Sans" pitchFamily="34" charset="-122"/>
                <a:cs typeface="IBM Plex Sans" pitchFamily="34" charset="-120"/>
              </a:rPr>
              <a:t> vs 0.9723 for NB-LR alone.</a:t>
            </a:r>
            <a:endParaRPr lang="en-US" sz="1300" dirty="0"/>
          </a:p>
        </p:txBody>
      </p:sp>
      <p:sp>
        <p:nvSpPr>
          <p:cNvPr id="16" name="Text 14"/>
          <p:cNvSpPr/>
          <p:nvPr/>
        </p:nvSpPr>
        <p:spPr>
          <a:xfrm>
            <a:off x="812774" y="4668828"/>
            <a:ext cx="10566425" cy="827193"/>
          </a:xfrm>
          <a:prstGeom prst="roundRect">
            <a:avLst>
              <a:gd name="adj" fmla="val 9212"/>
            </a:avLst>
          </a:prstGeom>
          <a:solidFill>
            <a:srgbClr val="EEF1F6"/>
          </a:solidFill>
          <a:ln/>
        </p:spPr>
        <p:txBody>
          <a:bodyPr wrap="square" lIns="180882" tIns="142782" rIns="0" bIns="117382" rtlCol="0" anchor="t">
            <a:normAutofit/>
          </a:bodyPr>
          <a:lstStyle/>
          <a:p>
            <a:pPr marL="0" indent="0" algn="l">
              <a:lnSpc>
                <a:spcPts val="1958"/>
              </a:lnSpc>
              <a:buNone/>
            </a:pPr>
            <a:r>
              <a:rPr lang="en-US" sz="1350" dirty="0">
                <a:solidFill>
                  <a:srgbClr val="1C2541"/>
                </a:solidFill>
                <a:latin typeface="IBM Plex Sans" pitchFamily="34" charset="0"/>
                <a:ea typeface="IBM Plex Sans" pitchFamily="34" charset="-122"/>
                <a:cs typeface="IBM Plex Sans" pitchFamily="34" charset="-120"/>
              </a:rPr>
              <a:t>A different network did </a:t>
            </a:r>
            <a:r>
              <a:rPr lang="en-US" sz="1350" b="1" dirty="0">
                <a:solidFill>
                  <a:srgbClr val="1C2541"/>
                </a:solidFill>
                <a:latin typeface="IBM Plex Sans" pitchFamily="34" charset="0"/>
                <a:ea typeface="IBM Plex Sans" pitchFamily="34" charset="-122"/>
                <a:cs typeface="IBM Plex Sans" pitchFamily="34" charset="-120"/>
              </a:rPr>
              <a:t>not</a:t>
            </a:r>
            <a:r>
              <a:rPr lang="en-US" sz="1350" dirty="0">
                <a:solidFill>
                  <a:srgbClr val="1C2541"/>
                </a:solidFill>
                <a:latin typeface="IBM Plex Sans" pitchFamily="34" charset="0"/>
                <a:ea typeface="IBM Plex Sans" pitchFamily="34" charset="-122"/>
                <a:cs typeface="IBM Plex Sans" pitchFamily="34" charset="-120"/>
              </a:rPr>
              <a:t> help — our wider ReLU MLP (0.8931) trailed the paper-style DNN. The gains came from the features, not the model.</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1C2541"/>
        </a:solidFill>
        <a:effectLst/>
      </p:bgPr>
    </p:bg>
    <p:spTree>
      <p:nvGrpSpPr>
        <p:cNvPr id="1" name=""/>
        <p:cNvGrpSpPr/>
        <p:nvPr/>
      </p:nvGrpSpPr>
      <p:grpSpPr>
        <a:xfrm>
          <a:off x="0" y="0"/>
          <a:ext cx="0" cy="0"/>
          <a:chOff x="0" y="0"/>
          <a:chExt cx="0" cy="0"/>
        </a:xfrm>
      </p:grpSpPr>
      <p:sp>
        <p:nvSpPr>
          <p:cNvPr id="2" name="Text 0"/>
          <p:cNvSpPr/>
          <p:nvPr/>
        </p:nvSpPr>
        <p:spPr>
          <a:xfrm>
            <a:off x="812774" y="812772"/>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a:solidFill>
                  <a:srgbClr val="C77D34"/>
                </a:solidFill>
                <a:latin typeface="IBM Plex Sans" pitchFamily="34" charset="0"/>
                <a:ea typeface="IBM Plex Sans" pitchFamily="34" charset="-122"/>
                <a:cs typeface="IBM Plex Sans" pitchFamily="34" charset="-120"/>
              </a:rPr>
              <a:t>RESULT 3 — PRETRAINED TRANSFORMERS</a:t>
            </a:r>
            <a:endParaRPr lang="en-US" sz="1300" dirty="0"/>
          </a:p>
        </p:txBody>
      </p:sp>
      <p:sp>
        <p:nvSpPr>
          <p:cNvPr id="3" name="Text 1"/>
          <p:cNvSpPr>
            <a:spLocks noGrp="1"/>
          </p:cNvSpPr>
          <p:nvPr>
            <p:ph type="title"/>
          </p:nvPr>
        </p:nvSpPr>
        <p:spPr>
          <a:xfrm>
            <a:off x="812774" y="1120071"/>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FBFBF8"/>
                </a:solidFill>
                <a:latin typeface="Source Serif 4" pitchFamily="18" charset="0"/>
                <a:ea typeface="Source Serif 4" pitchFamily="18" charset="-122"/>
                <a:cs typeface="Source Serif 4" pitchFamily="18" charset="-120"/>
              </a:rPr>
              <a:t>Fine-tuned RoBERTa reaches 95.9%</a:t>
            </a:r>
            <a:endParaRPr lang="en-US" sz="3200" dirty="0"/>
          </a:p>
        </p:txBody>
      </p:sp>
      <p:sp>
        <p:nvSpPr>
          <p:cNvPr id="4" name="Text 2"/>
          <p:cNvSpPr/>
          <p:nvPr/>
        </p:nvSpPr>
        <p:spPr>
          <a:xfrm>
            <a:off x="812774" y="1821042"/>
            <a:ext cx="1544321" cy="665504"/>
          </a:xfrm>
          <a:prstGeom prst="rect">
            <a:avLst/>
          </a:prstGeom>
          <a:noFill/>
          <a:ln/>
        </p:spPr>
        <p:txBody>
          <a:bodyPr wrap="square" lIns="0" tIns="0" rIns="0" bIns="0" rtlCol="0" anchor="t">
            <a:normAutofit/>
          </a:bodyPr>
          <a:lstStyle/>
          <a:p>
            <a:pPr marL="0" indent="0" algn="l">
              <a:lnSpc>
                <a:spcPts val="5040"/>
              </a:lnSpc>
              <a:buNone/>
            </a:pPr>
            <a:r>
              <a:rPr lang="en-US" sz="3600" b="1">
                <a:solidFill>
                  <a:srgbClr val="AEC0D6"/>
                </a:solidFill>
                <a:latin typeface="Source Serif 4" pitchFamily="18" charset="0"/>
                <a:ea typeface="Source Serif 4" pitchFamily="18" charset="-122"/>
                <a:cs typeface="Source Serif 4" pitchFamily="18" charset="-120"/>
              </a:rPr>
              <a:t>90.6%</a:t>
            </a:r>
            <a:endParaRPr lang="en-US" sz="3600" dirty="0"/>
          </a:p>
        </p:txBody>
      </p:sp>
      <p:sp>
        <p:nvSpPr>
          <p:cNvPr id="5" name="Text 3"/>
          <p:cNvSpPr/>
          <p:nvPr/>
        </p:nvSpPr>
        <p:spPr>
          <a:xfrm>
            <a:off x="812774" y="2486506"/>
            <a:ext cx="1417379"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AEC0D6"/>
                </a:solidFill>
                <a:latin typeface="IBM Plex Sans" pitchFamily="34" charset="0"/>
                <a:ea typeface="IBM Plex Sans" pitchFamily="34" charset="-122"/>
                <a:cs typeface="IBM Plex Sans" pitchFamily="34" charset="-120"/>
              </a:rPr>
              <a:t>paper best</a:t>
            </a:r>
            <a:endParaRPr lang="en-US" sz="1200" dirty="0"/>
          </a:p>
        </p:txBody>
      </p:sp>
      <p:pic>
        <p:nvPicPr>
          <p:cNvPr id="6" name="Image 0" descr="arrow-right"/>
          <p:cNvPicPr>
            <a:picLocks noChangeAspect="1"/>
          </p:cNvPicPr>
          <p:nvPr/>
        </p:nvPicPr>
        <p:blipFill>
          <a:blip r:embed="rId3"/>
          <a:srcRect l="-4" r="-4"/>
          <a:stretch/>
        </p:blipFill>
        <p:spPr>
          <a:xfrm>
            <a:off x="2357095" y="2133414"/>
            <a:ext cx="533372" cy="253969"/>
          </a:xfrm>
          <a:prstGeom prst="rect">
            <a:avLst/>
          </a:prstGeom>
        </p:spPr>
      </p:pic>
      <p:sp>
        <p:nvSpPr>
          <p:cNvPr id="7" name="Text 4"/>
          <p:cNvSpPr/>
          <p:nvPr/>
        </p:nvSpPr>
        <p:spPr>
          <a:xfrm>
            <a:off x="3068209" y="1821042"/>
            <a:ext cx="1544321" cy="665504"/>
          </a:xfrm>
          <a:prstGeom prst="rect">
            <a:avLst/>
          </a:prstGeom>
          <a:noFill/>
          <a:ln/>
        </p:spPr>
        <p:txBody>
          <a:bodyPr wrap="square" lIns="0" tIns="0" rIns="0" bIns="0" rtlCol="0" anchor="t">
            <a:normAutofit/>
          </a:bodyPr>
          <a:lstStyle/>
          <a:p>
            <a:pPr marL="0" indent="0" algn="l">
              <a:lnSpc>
                <a:spcPts val="5040"/>
              </a:lnSpc>
              <a:buNone/>
            </a:pPr>
            <a:r>
              <a:rPr lang="en-US" sz="3600" b="1">
                <a:solidFill>
                  <a:srgbClr val="FBFBF8"/>
                </a:solidFill>
                <a:latin typeface="Source Serif 4" pitchFamily="18" charset="0"/>
                <a:ea typeface="Source Serif 4" pitchFamily="18" charset="-122"/>
                <a:cs typeface="Source Serif 4" pitchFamily="18" charset="-120"/>
              </a:rPr>
              <a:t>91.8%</a:t>
            </a:r>
            <a:endParaRPr lang="en-US" sz="3600" dirty="0"/>
          </a:p>
        </p:txBody>
      </p:sp>
      <p:sp>
        <p:nvSpPr>
          <p:cNvPr id="8" name="Text 5"/>
          <p:cNvSpPr/>
          <p:nvPr/>
        </p:nvSpPr>
        <p:spPr>
          <a:xfrm>
            <a:off x="3068209" y="2486506"/>
            <a:ext cx="1417379"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AEC0D6"/>
                </a:solidFill>
                <a:latin typeface="IBM Plex Sans" pitchFamily="34" charset="0"/>
                <a:ea typeface="IBM Plex Sans" pitchFamily="34" charset="-122"/>
                <a:cs typeface="IBM Plex Sans" pitchFamily="34" charset="-120"/>
              </a:rPr>
              <a:t>best n-gram model</a:t>
            </a:r>
            <a:endParaRPr lang="en-US" sz="1200" dirty="0"/>
          </a:p>
        </p:txBody>
      </p:sp>
      <p:pic>
        <p:nvPicPr>
          <p:cNvPr id="9" name="Image 1" descr="arrow-right"/>
          <p:cNvPicPr>
            <a:picLocks noChangeAspect="1"/>
          </p:cNvPicPr>
          <p:nvPr/>
        </p:nvPicPr>
        <p:blipFill>
          <a:blip r:embed="rId4"/>
          <a:srcRect l="-4" r="-4"/>
          <a:stretch/>
        </p:blipFill>
        <p:spPr>
          <a:xfrm>
            <a:off x="4612531" y="2133414"/>
            <a:ext cx="533372" cy="253969"/>
          </a:xfrm>
          <a:prstGeom prst="rect">
            <a:avLst/>
          </a:prstGeom>
        </p:spPr>
      </p:pic>
      <p:sp>
        <p:nvSpPr>
          <p:cNvPr id="10" name="Text 6"/>
          <p:cNvSpPr/>
          <p:nvPr/>
        </p:nvSpPr>
        <p:spPr>
          <a:xfrm>
            <a:off x="5323645" y="1821042"/>
            <a:ext cx="1639895" cy="665504"/>
          </a:xfrm>
          <a:prstGeom prst="rect">
            <a:avLst/>
          </a:prstGeom>
          <a:noFill/>
          <a:ln/>
        </p:spPr>
        <p:txBody>
          <a:bodyPr wrap="square" lIns="0" tIns="0" rIns="0" bIns="0" rtlCol="0" anchor="t">
            <a:normAutofit/>
          </a:bodyPr>
          <a:lstStyle/>
          <a:p>
            <a:pPr marL="0" indent="0" algn="l">
              <a:lnSpc>
                <a:spcPts val="5040"/>
              </a:lnSpc>
              <a:buNone/>
            </a:pPr>
            <a:r>
              <a:rPr lang="en-US" sz="3600" b="1">
                <a:solidFill>
                  <a:srgbClr val="C77D34"/>
                </a:solidFill>
                <a:latin typeface="Source Serif 4" pitchFamily="18" charset="0"/>
                <a:ea typeface="Source Serif 4" pitchFamily="18" charset="-122"/>
                <a:cs typeface="Source Serif 4" pitchFamily="18" charset="-120"/>
              </a:rPr>
              <a:t>95.9%</a:t>
            </a:r>
            <a:endParaRPr lang="en-US" sz="3600" dirty="0"/>
          </a:p>
        </p:txBody>
      </p:sp>
      <p:sp>
        <p:nvSpPr>
          <p:cNvPr id="11" name="Text 7"/>
          <p:cNvSpPr/>
          <p:nvPr/>
        </p:nvSpPr>
        <p:spPr>
          <a:xfrm>
            <a:off x="5323645" y="2486506"/>
            <a:ext cx="1417379"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C77D34"/>
                </a:solidFill>
                <a:latin typeface="IBM Plex Sans" pitchFamily="34" charset="0"/>
                <a:ea typeface="IBM Plex Sans" pitchFamily="34" charset="-122"/>
                <a:cs typeface="IBM Plex Sans" pitchFamily="34" charset="-120"/>
              </a:rPr>
              <a:t>RoBERTa-base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2843917837"/>
              </p:ext>
            </p:extLst>
          </p:nvPr>
        </p:nvGraphicFramePr>
        <p:xfrm>
          <a:off x="822049" y="2963070"/>
          <a:ext cx="10557150" cy="2179210"/>
        </p:xfrm>
        <a:graphic>
          <a:graphicData uri="http://schemas.openxmlformats.org/drawingml/2006/table">
            <a:tbl>
              <a:tblPr/>
              <a:tblGrid>
                <a:gridCol w="5489718">
                  <a:extLst>
                    <a:ext uri="{9D8B030D-6E8A-4147-A177-3AD203B41FA5}">
                      <a16:colId xmlns:a16="http://schemas.microsoft.com/office/drawing/2014/main" val="20000"/>
                    </a:ext>
                  </a:extLst>
                </a:gridCol>
                <a:gridCol w="2744859">
                  <a:extLst>
                    <a:ext uri="{9D8B030D-6E8A-4147-A177-3AD203B41FA5}">
                      <a16:colId xmlns:a16="http://schemas.microsoft.com/office/drawing/2014/main" val="20001"/>
                    </a:ext>
                  </a:extLst>
                </a:gridCol>
                <a:gridCol w="2322573">
                  <a:extLst>
                    <a:ext uri="{9D8B030D-6E8A-4147-A177-3AD203B41FA5}">
                      <a16:colId xmlns:a16="http://schemas.microsoft.com/office/drawing/2014/main" val="20002"/>
                    </a:ext>
                  </a:extLst>
                </a:gridCol>
              </a:tblGrid>
              <a:tr h="435842">
                <a:tc>
                  <a:txBody>
                    <a:bodyPr/>
                    <a:lstStyle/>
                    <a:p>
                      <a:pPr marL="0" indent="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5C7FA3"/>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5C7FA3"/>
                      </a:solidFill>
                      <a:prstDash val="solid"/>
                      <a:round/>
                      <a:headEnd type="none" w="med" len="med"/>
                      <a:tailEnd type="none" w="med" len="med"/>
                    </a:lnB>
                    <a:solidFill>
                      <a:srgbClr val="2F5D8C"/>
                    </a:solidFill>
                  </a:tcPr>
                </a:tc>
                <a:tc>
                  <a:txBody>
                    <a:bodyPr/>
                    <a:lstStyle/>
                    <a:p>
                      <a:pPr marL="0" indent="0" algn="r">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152400" marR="152400" marT="88900" marB="88900">
                    <a:lnL w="12700" cap="flat" cmpd="sng" algn="ctr">
                      <a:solidFill>
                        <a:srgbClr val="5C7FA3"/>
                      </a:solidFill>
                      <a:prstDash val="solid"/>
                      <a:round/>
                      <a:headEnd type="none" w="med" len="med"/>
                      <a:tailEnd type="none" w="med" len="med"/>
                    </a:lnL>
                    <a:lnR w="12700" cap="flat" cmpd="sng" algn="ctr">
                      <a:solidFill>
                        <a:srgbClr val="5C7FA3"/>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5C7FA3"/>
                      </a:solidFill>
                      <a:prstDash val="solid"/>
                      <a:round/>
                      <a:headEnd type="none" w="med" len="med"/>
                      <a:tailEnd type="none" w="med" len="med"/>
                    </a:lnB>
                    <a:solidFill>
                      <a:srgbClr val="2F5D8C"/>
                    </a:solidFill>
                  </a:tcPr>
                </a:tc>
                <a:tc>
                  <a:txBody>
                    <a:bodyPr/>
                    <a:lstStyle/>
                    <a:p>
                      <a:pPr marL="0" indent="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vs 90.6%</a:t>
                      </a:r>
                      <a:endParaRPr lang="en-US" sz="1400" dirty="0">
                        <a:latin typeface="IBM Plex Sans" charset="0"/>
                        <a:ea typeface="IBM Plex Sans" charset="0"/>
                        <a:cs typeface="IBM Plex Sans" charset="0"/>
                      </a:endParaRPr>
                    </a:p>
                  </a:txBody>
                  <a:tcPr marL="152400" marR="152400" marT="88900" marB="88900">
                    <a:lnL w="12700" cap="flat" cmpd="sng" algn="ctr">
                      <a:solidFill>
                        <a:srgbClr val="5C7FA3"/>
                      </a:solidFill>
                      <a:prstDash val="solid"/>
                      <a:round/>
                      <a:headEnd type="none" w="med" len="med"/>
                      <a:tailEnd type="none" w="med" len="med"/>
                    </a:lnL>
                    <a:lnR w="12700" cap="flat" cmpd="sng" algn="ctr">
                      <a:solidFill>
                        <a:srgbClr val="5C7FA3"/>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5C7FA3"/>
                      </a:solidFill>
                      <a:prstDash val="solid"/>
                      <a:round/>
                      <a:headEnd type="none" w="med" len="med"/>
                      <a:tailEnd type="none" w="med" len="med"/>
                    </a:lnB>
                    <a:solidFill>
                      <a:srgbClr val="2F5D8C"/>
                    </a:solidFill>
                  </a:tcPr>
                </a:tc>
                <a:extLst>
                  <a:ext uri="{0D108BD9-81ED-4DB2-BD59-A6C34878D82A}">
                    <a16:rowId xmlns:a16="http://schemas.microsoft.com/office/drawing/2014/main" val="10000"/>
                  </a:ext>
                </a:extLst>
              </a:tr>
              <a:tr h="435842">
                <a:tc>
                  <a:txBody>
                    <a:bodyPr/>
                    <a:lstStyle/>
                    <a:p>
                      <a:pPr marL="0" indent="0">
                        <a:lnSpc>
                          <a:spcPts val="1960"/>
                        </a:lnSpc>
                        <a:buNone/>
                      </a:pPr>
                      <a:r>
                        <a:rPr lang="en-US" sz="1400">
                          <a:solidFill>
                            <a:srgbClr val="EAF0F7"/>
                          </a:solidFill>
                          <a:latin typeface="IBM Plex Sans" pitchFamily="34" charset="0"/>
                          <a:ea typeface="IBM Plex Sans" pitchFamily="34" charset="-122"/>
                          <a:cs typeface="IBM Plex Sans" pitchFamily="34" charset="-120"/>
                        </a:rPr>
                        <a:t>RoBERTa-base, fine-tuned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5C7FA3"/>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a:solidFill>
                            <a:srgbClr val="C77D34"/>
                          </a:solidFill>
                          <a:latin typeface="IBM Plex Sans" pitchFamily="34" charset="0"/>
                          <a:ea typeface="IBM Plex Sans" pitchFamily="34" charset="-122"/>
                          <a:cs typeface="IBM Plex Sans" pitchFamily="34" charset="-120"/>
                        </a:rPr>
                        <a:t>0.9586</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5C7FA3"/>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a:solidFill>
                            <a:srgbClr val="C77D34"/>
                          </a:solidFill>
                          <a:latin typeface="IBM Plex Sans" pitchFamily="34" charset="0"/>
                          <a:ea typeface="IBM Plex Sans" pitchFamily="34" charset="-122"/>
                          <a:cs typeface="IBM Plex Sans" pitchFamily="34" charset="-120"/>
                        </a:rPr>
                        <a:t>+0.0526</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5C7FA3"/>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1"/>
                  </a:ext>
                </a:extLst>
              </a:tr>
              <a:tr h="435842">
                <a:tc>
                  <a:txBody>
                    <a:bodyPr/>
                    <a:lstStyle/>
                    <a:p>
                      <a:pPr marL="0" indent="0">
                        <a:lnSpc>
                          <a:spcPts val="1960"/>
                        </a:lnSpc>
                        <a:buNone/>
                      </a:pPr>
                      <a:r>
                        <a:rPr lang="en-US" sz="1400">
                          <a:solidFill>
                            <a:srgbClr val="EAF0F7"/>
                          </a:solidFill>
                          <a:latin typeface="IBM Plex Sans" pitchFamily="34" charset="0"/>
                          <a:ea typeface="IBM Plex Sans" pitchFamily="34" charset="-122"/>
                          <a:cs typeface="IBM Plex Sans" pitchFamily="34" charset="-120"/>
                        </a:rPr>
                        <a:t>Ensemble: DistilBERT + RoBERTa</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a:solidFill>
                            <a:srgbClr val="EAF0F7"/>
                          </a:solidFill>
                          <a:latin typeface="IBM Plex Sans" pitchFamily="34" charset="0"/>
                          <a:ea typeface="IBM Plex Sans" pitchFamily="34" charset="-122"/>
                          <a:cs typeface="IBM Plex Sans" pitchFamily="34" charset="-120"/>
                        </a:rPr>
                        <a:t>0.9567</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a:solidFill>
                            <a:srgbClr val="9FD0B0"/>
                          </a:solidFill>
                          <a:latin typeface="IBM Plex Sans" pitchFamily="34" charset="0"/>
                          <a:ea typeface="IBM Plex Sans" pitchFamily="34" charset="-122"/>
                          <a:cs typeface="IBM Plex Sans" pitchFamily="34" charset="-120"/>
                        </a:rPr>
                        <a:t>+0.0507</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2"/>
                  </a:ext>
                </a:extLst>
              </a:tr>
              <a:tr h="435842">
                <a:tc>
                  <a:txBody>
                    <a:bodyPr/>
                    <a:lstStyle/>
                    <a:p>
                      <a:pPr marL="0" indent="0">
                        <a:lnSpc>
                          <a:spcPts val="1960"/>
                        </a:lnSpc>
                        <a:buNone/>
                      </a:pPr>
                      <a:r>
                        <a:rPr lang="en-US" sz="1400">
                          <a:solidFill>
                            <a:srgbClr val="EAF0F7"/>
                          </a:solidFill>
                          <a:latin typeface="IBM Plex Sans" pitchFamily="34" charset="0"/>
                          <a:ea typeface="IBM Plex Sans" pitchFamily="34" charset="-122"/>
                          <a:cs typeface="IBM Plex Sans" pitchFamily="34" charset="-120"/>
                        </a:rPr>
                        <a:t>DistilBERT, fine-tuned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a:solidFill>
                            <a:srgbClr val="EAF0F7"/>
                          </a:solidFill>
                          <a:latin typeface="IBM Plex Sans" pitchFamily="34" charset="0"/>
                          <a:ea typeface="IBM Plex Sans" pitchFamily="34" charset="-122"/>
                          <a:cs typeface="IBM Plex Sans" pitchFamily="34" charset="-120"/>
                        </a:rPr>
                        <a:t>0.9381</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a:solidFill>
                            <a:srgbClr val="9FD0B0"/>
                          </a:solidFill>
                          <a:latin typeface="IBM Plex Sans" pitchFamily="34" charset="0"/>
                          <a:ea typeface="IBM Plex Sans" pitchFamily="34" charset="-122"/>
                          <a:cs typeface="IBM Plex Sans" pitchFamily="34" charset="-120"/>
                        </a:rPr>
                        <a:t>+0.0321</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3"/>
                  </a:ext>
                </a:extLst>
              </a:tr>
              <a:tr h="435842">
                <a:tc>
                  <a:txBody>
                    <a:bodyPr/>
                    <a:lstStyle/>
                    <a:p>
                      <a:pPr marL="0" indent="0">
                        <a:lnSpc>
                          <a:spcPts val="1960"/>
                        </a:lnSpc>
                        <a:buNone/>
                      </a:pPr>
                      <a:r>
                        <a:rPr lang="nn-NO" sz="1400">
                          <a:solidFill>
                            <a:srgbClr val="EAF0F7"/>
                          </a:solidFill>
                          <a:latin typeface="IBM Plex Sans" pitchFamily="34" charset="0"/>
                          <a:ea typeface="IBM Plex Sans" pitchFamily="34" charset="-122"/>
                          <a:cs typeface="IBM Plex Sans" pitchFamily="34" charset="-120"/>
                        </a:rPr>
                        <a:t>Ensemble: NB-LR + SVM (best n-gram)</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gn="r">
                        <a:lnSpc>
                          <a:spcPts val="1960"/>
                        </a:lnSpc>
                        <a:buNone/>
                      </a:pPr>
                      <a:r>
                        <a:rPr lang="en-US" sz="1400">
                          <a:solidFill>
                            <a:srgbClr val="EAF0F7"/>
                          </a:solidFill>
                          <a:latin typeface="IBM Plex Sans" pitchFamily="34" charset="0"/>
                          <a:ea typeface="IBM Plex Sans" pitchFamily="34" charset="-122"/>
                          <a:cs typeface="IBM Plex Sans" pitchFamily="34" charset="-120"/>
                        </a:rPr>
                        <a:t>0.9182</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tc>
                  <a:txBody>
                    <a:bodyPr/>
                    <a:lstStyle/>
                    <a:p>
                      <a:pPr marL="0" indent="0">
                        <a:lnSpc>
                          <a:spcPts val="1960"/>
                        </a:lnSpc>
                        <a:buNone/>
                      </a:pPr>
                      <a:r>
                        <a:rPr lang="en-US" sz="1400">
                          <a:solidFill>
                            <a:srgbClr val="9FD0B0"/>
                          </a:solidFill>
                          <a:latin typeface="IBM Plex Sans" pitchFamily="34" charset="0"/>
                          <a:ea typeface="IBM Plex Sans" pitchFamily="34" charset="-122"/>
                          <a:cs typeface="IBM Plex Sans" pitchFamily="34" charset="-120"/>
                        </a:rPr>
                        <a:t>+0.0122</a:t>
                      </a:r>
                      <a:endParaRPr lang="en-US" sz="1400" dirty="0">
                        <a:latin typeface="IBM Plex Sans" charset="0"/>
                        <a:ea typeface="IBM Plex Sans" charset="0"/>
                        <a:cs typeface="IBM Plex Sans" charset="0"/>
                      </a:endParaRPr>
                    </a:p>
                  </a:txBody>
                  <a:tcPr marL="152400" marR="152400" marT="88900" marB="88900">
                    <a:lnL w="12700" cap="flat" cmpd="sng" algn="ctr">
                      <a:solidFill>
                        <a:srgbClr val="4D5469"/>
                      </a:solidFill>
                      <a:prstDash val="solid"/>
                      <a:round/>
                      <a:headEnd type="none" w="med" len="med"/>
                      <a:tailEnd type="none" w="med" len="med"/>
                    </a:lnL>
                    <a:lnR w="12700" cap="flat" cmpd="sng" algn="ctr">
                      <a:solidFill>
                        <a:srgbClr val="4D5469"/>
                      </a:solidFill>
                      <a:prstDash val="solid"/>
                      <a:round/>
                      <a:headEnd type="none" w="med" len="med"/>
                      <a:tailEnd type="none" w="med" len="med"/>
                    </a:lnR>
                    <a:lnT w="12700" cap="flat" cmpd="sng" algn="ctr">
                      <a:solidFill>
                        <a:srgbClr val="4D5469"/>
                      </a:solidFill>
                      <a:prstDash val="solid"/>
                      <a:round/>
                      <a:headEnd type="none" w="med" len="med"/>
                      <a:tailEnd type="none" w="med" len="med"/>
                    </a:lnT>
                    <a:lnB w="12700" cap="flat" cmpd="sng" algn="ctr">
                      <a:solidFill>
                        <a:srgbClr val="4D546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8"/>
          <p:cNvSpPr/>
          <p:nvPr/>
        </p:nvSpPr>
        <p:spPr>
          <a:xfrm>
            <a:off x="812774" y="5396247"/>
            <a:ext cx="10883418" cy="256545"/>
          </a:xfrm>
          <a:prstGeom prst="rect">
            <a:avLst/>
          </a:prstGeom>
          <a:noFill/>
          <a:ln/>
        </p:spPr>
        <p:txBody>
          <a:bodyPr wrap="square" lIns="0" tIns="0" rIns="0" bIns="0" rtlCol="0" anchor="t">
            <a:normAutofit/>
          </a:bodyPr>
          <a:lstStyle/>
          <a:p>
            <a:pPr marL="0" indent="0" algn="l">
              <a:lnSpc>
                <a:spcPts val="1820"/>
              </a:lnSpc>
              <a:buNone/>
            </a:pPr>
            <a:r>
              <a:rPr lang="en-GB" sz="1300">
                <a:solidFill>
                  <a:srgbClr val="AEC0D6"/>
                </a:solidFill>
                <a:latin typeface="IBM Plex Sans" pitchFamily="34" charset="0"/>
                <a:ea typeface="IBM Plex Sans" pitchFamily="34" charset="-122"/>
                <a:cs typeface="IBM Plex Sans" pitchFamily="34" charset="-120"/>
              </a:rPr>
              <a:t>RoBERTa: 95% interval 95.6–96.1%. On the same 25,000 test reviews it beats NB-LR (McNemar p = 6e-140).</a:t>
            </a:r>
            <a:endParaRPr lang="en-US" sz="1300" dirty="0"/>
          </a:p>
        </p:txBody>
      </p:sp>
    </p:spTree>
    <p:extLst>
      <p:ext uri="{BB962C8B-B14F-4D97-AF65-F5344CB8AC3E}">
        <p14:creationId xmlns:p14="http://schemas.microsoft.com/office/powerpoint/2010/main" val="891514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69"/>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a:solidFill>
                  <a:srgbClr val="C77D34"/>
                </a:solidFill>
                <a:latin typeface="IBM Plex Sans" pitchFamily="34" charset="0"/>
                <a:ea typeface="IBM Plex Sans" pitchFamily="34" charset="-122"/>
                <a:cs typeface="IBM Plex Sans" pitchFamily="34" charset="-120"/>
              </a:rPr>
              <a:t>IMPROVEMENT · WHY TRANSFORMERS WIN</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GB" sz="3200" b="1" i="0">
                <a:solidFill>
                  <a:srgbClr val="1C2541"/>
                </a:solidFill>
                <a:latin typeface="Source Serif 4" pitchFamily="18" charset="0"/>
                <a:ea typeface="Source Serif 4" pitchFamily="18" charset="-122"/>
                <a:cs typeface="Source Serif 4" pitchFamily="18" charset="-120"/>
              </a:rPr>
              <a:t>Reading in order beats counting n-grams</a:t>
            </a:r>
            <a:endParaRPr lang="en-US" sz="3200" dirty="0"/>
          </a:p>
        </p:txBody>
      </p:sp>
      <p:sp>
        <p:nvSpPr>
          <p:cNvPr id="7" name="Shape 4"/>
          <p:cNvSpPr/>
          <p:nvPr/>
        </p:nvSpPr>
        <p:spPr>
          <a:xfrm>
            <a:off x="7645308" y="1795605"/>
            <a:ext cx="3733891" cy="1025949"/>
          </a:xfrm>
          <a:prstGeom prst="roundRect">
            <a:avLst>
              <a:gd name="adj" fmla="val 8665"/>
            </a:avLst>
          </a:prstGeom>
          <a:solidFill>
            <a:srgbClr val="EEF1F6"/>
          </a:solidFill>
          <a:ln/>
        </p:spPr>
      </p:sp>
      <p:sp>
        <p:nvSpPr>
          <p:cNvPr id="8" name="Text 5"/>
          <p:cNvSpPr/>
          <p:nvPr/>
        </p:nvSpPr>
        <p:spPr>
          <a:xfrm>
            <a:off x="7835802" y="1960668"/>
            <a:ext cx="3453488"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2F5D8C"/>
                </a:solidFill>
                <a:latin typeface="IBM Plex Sans" pitchFamily="34" charset="0"/>
                <a:ea typeface="IBM Plex Sans" pitchFamily="34" charset="-122"/>
                <a:cs typeface="IBM Plex Sans" pitchFamily="34" charset="-120"/>
              </a:rPr>
              <a:t>Reads word order</a:t>
            </a:r>
            <a:endParaRPr lang="en-US" sz="1400" dirty="0"/>
          </a:p>
        </p:txBody>
      </p:sp>
      <p:sp>
        <p:nvSpPr>
          <p:cNvPr id="9" name="Text 6"/>
          <p:cNvSpPr/>
          <p:nvPr/>
        </p:nvSpPr>
        <p:spPr>
          <a:xfrm>
            <a:off x="7835802" y="2212032"/>
            <a:ext cx="3453488" cy="469864"/>
          </a:xfrm>
          <a:prstGeom prst="rect">
            <a:avLst/>
          </a:prstGeom>
          <a:noFill/>
          <a:ln/>
        </p:spPr>
        <p:txBody>
          <a:bodyPr wrap="square" lIns="0" tIns="0" rIns="0" bIns="0" rtlCol="0" anchor="t">
            <a:normAutofit/>
          </a:bodyPr>
          <a:lstStyle/>
          <a:p>
            <a:pPr marL="0" indent="0" algn="l">
              <a:lnSpc>
                <a:spcPts val="1750"/>
              </a:lnSpc>
              <a:buNone/>
            </a:pPr>
            <a:r>
              <a:rPr lang="en-GB" sz="1250">
                <a:solidFill>
                  <a:srgbClr val="4A5568"/>
                </a:solidFill>
                <a:latin typeface="IBM Plex Sans" pitchFamily="34" charset="0"/>
                <a:ea typeface="IBM Plex Sans" pitchFamily="34" charset="-122"/>
                <a:cs typeface="IBM Plex Sans" pitchFamily="34" charset="-120"/>
              </a:rPr>
              <a:t>N-grams lose “not bad at all” and “slow, but…”; attention reads the whole sentence.</a:t>
            </a:r>
            <a:endParaRPr lang="en-US" sz="1250" dirty="0"/>
          </a:p>
        </p:txBody>
      </p:sp>
      <p:sp>
        <p:nvSpPr>
          <p:cNvPr id="10" name="Shape 7"/>
          <p:cNvSpPr/>
          <p:nvPr/>
        </p:nvSpPr>
        <p:spPr>
          <a:xfrm>
            <a:off x="7645308" y="2948502"/>
            <a:ext cx="3733891" cy="1025949"/>
          </a:xfrm>
          <a:prstGeom prst="roundRect">
            <a:avLst>
              <a:gd name="adj" fmla="val 8665"/>
            </a:avLst>
          </a:prstGeom>
          <a:solidFill>
            <a:srgbClr val="EEF1F6"/>
          </a:solidFill>
          <a:ln/>
        </p:spPr>
      </p:sp>
      <p:sp>
        <p:nvSpPr>
          <p:cNvPr id="11" name="Text 8"/>
          <p:cNvSpPr/>
          <p:nvPr/>
        </p:nvSpPr>
        <p:spPr>
          <a:xfrm>
            <a:off x="7835802" y="3113565"/>
            <a:ext cx="3453488"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2F5D8C"/>
                </a:solidFill>
                <a:latin typeface="IBM Plex Sans" pitchFamily="34" charset="0"/>
                <a:ea typeface="IBM Plex Sans" pitchFamily="34" charset="-122"/>
                <a:cs typeface="IBM Plex Sans" pitchFamily="34" charset="-120"/>
              </a:rPr>
              <a:t>Starts pretrained</a:t>
            </a:r>
            <a:endParaRPr lang="en-US" sz="1400" dirty="0"/>
          </a:p>
        </p:txBody>
      </p:sp>
      <p:sp>
        <p:nvSpPr>
          <p:cNvPr id="12" name="Text 9"/>
          <p:cNvSpPr/>
          <p:nvPr/>
        </p:nvSpPr>
        <p:spPr>
          <a:xfrm>
            <a:off x="7835802" y="3364929"/>
            <a:ext cx="3453488" cy="469864"/>
          </a:xfrm>
          <a:prstGeom prst="rect">
            <a:avLst/>
          </a:prstGeom>
          <a:noFill/>
          <a:ln/>
        </p:spPr>
        <p:txBody>
          <a:bodyPr wrap="square" lIns="0" tIns="0" rIns="0" bIns="0" rtlCol="0" anchor="t">
            <a:normAutofit/>
          </a:bodyPr>
          <a:lstStyle/>
          <a:p>
            <a:pPr marL="0" indent="0" algn="l">
              <a:lnSpc>
                <a:spcPts val="1750"/>
              </a:lnSpc>
              <a:buNone/>
            </a:pPr>
            <a:r>
              <a:rPr lang="en-GB" sz="1250">
                <a:solidFill>
                  <a:srgbClr val="4A5568"/>
                </a:solidFill>
                <a:latin typeface="IBM Plex Sans" pitchFamily="34" charset="0"/>
                <a:ea typeface="IBM Plex Sans" pitchFamily="34" charset="-122"/>
                <a:cs typeface="IBM Plex Sans" pitchFamily="34" charset="-120"/>
              </a:rPr>
              <a:t>RoBERTa learned English from 160 GB of text, then 2 epochs on our reviews.</a:t>
            </a:r>
            <a:endParaRPr lang="en-US" sz="1250" dirty="0"/>
          </a:p>
        </p:txBody>
      </p:sp>
      <p:sp>
        <p:nvSpPr>
          <p:cNvPr id="13" name="Shape 10"/>
          <p:cNvSpPr/>
          <p:nvPr/>
        </p:nvSpPr>
        <p:spPr>
          <a:xfrm>
            <a:off x="7645308" y="4101399"/>
            <a:ext cx="3733891" cy="1025949"/>
          </a:xfrm>
          <a:prstGeom prst="roundRect">
            <a:avLst>
              <a:gd name="adj" fmla="val 8665"/>
            </a:avLst>
          </a:prstGeom>
          <a:solidFill>
            <a:srgbClr val="EEF1F6"/>
          </a:solidFill>
          <a:ln/>
        </p:spPr>
      </p:sp>
      <p:sp>
        <p:nvSpPr>
          <p:cNvPr id="14" name="Text 11"/>
          <p:cNvSpPr/>
          <p:nvPr/>
        </p:nvSpPr>
        <p:spPr>
          <a:xfrm>
            <a:off x="7835802" y="4266462"/>
            <a:ext cx="3453488"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2F5D8C"/>
                </a:solidFill>
                <a:latin typeface="IBM Plex Sans" pitchFamily="34" charset="0"/>
                <a:ea typeface="IBM Plex Sans" pitchFamily="34" charset="-122"/>
                <a:cs typeface="IBM Plex Sans" pitchFamily="34" charset="-120"/>
              </a:rPr>
              <a:t>Same honest protocol</a:t>
            </a:r>
            <a:endParaRPr lang="en-US" sz="1400" dirty="0"/>
          </a:p>
        </p:txBody>
      </p:sp>
      <p:sp>
        <p:nvSpPr>
          <p:cNvPr id="15" name="Text 12"/>
          <p:cNvSpPr/>
          <p:nvPr/>
        </p:nvSpPr>
        <p:spPr>
          <a:xfrm>
            <a:off x="7835802" y="4517827"/>
            <a:ext cx="3453488" cy="469864"/>
          </a:xfrm>
          <a:prstGeom prst="rect">
            <a:avLst/>
          </a:prstGeom>
          <a:noFill/>
          <a:ln/>
        </p:spPr>
        <p:txBody>
          <a:bodyPr wrap="square" lIns="0" tIns="0" rIns="0" bIns="0" rtlCol="0" anchor="t">
            <a:normAutofit/>
          </a:bodyPr>
          <a:lstStyle/>
          <a:p>
            <a:pPr marL="0" indent="0" algn="l">
              <a:lnSpc>
                <a:spcPts val="1750"/>
              </a:lnSpc>
              <a:buNone/>
            </a:pPr>
            <a:r>
              <a:rPr lang="en-GB" sz="1250">
                <a:solidFill>
                  <a:srgbClr val="4A5568"/>
                </a:solidFill>
                <a:latin typeface="IBM Plex Sans" pitchFamily="34" charset="0"/>
                <a:ea typeface="IBM Plex Sans" pitchFamily="34" charset="-122"/>
                <a:cs typeface="IBM Plex Sans" pitchFamily="34" charset="-120"/>
              </a:rPr>
              <a:t>Epochs chosen on the movie-grouped split; test set scored once.</a:t>
            </a:r>
            <a:endParaRPr lang="en-US" sz="1250" dirty="0"/>
          </a:p>
        </p:txBody>
      </p:sp>
      <p:pic>
        <p:nvPicPr>
          <p:cNvPr id="17" name="Final comparison chart" descr="Bar chart of test accuracy with 95% confidence intervals for every model. The three transformer models (95.9%, 95.7%, 93.8%) are far right of the paper's best of 90.6%; our n-gram improvements sit at 91.6-91.8%; the paper's models as reproduced range from 81.7% to 90.2%.">
            <a:extLst>
              <a:ext uri="{FF2B5EF4-FFF2-40B4-BE49-F238E27FC236}">
                <a16:creationId xmlns:a16="http://schemas.microsoft.com/office/drawing/2014/main" id="{EC0EF259-3FAD-1334-B7FE-500E1B29E3D9}"/>
              </a:ext>
            </a:extLst>
          </p:cNvPr>
          <p:cNvPicPr>
            <a:picLocks/>
          </p:cNvPicPr>
          <p:nvPr/>
        </p:nvPicPr>
        <p:blipFill>
          <a:blip r:embed="rId3"/>
          <a:stretch>
            <a:fillRect/>
          </a:stretch>
        </p:blipFill>
        <p:spPr>
          <a:xfrm>
            <a:off x="812800" y="1790700"/>
            <a:ext cx="6598937" cy="4673600"/>
          </a:xfrm>
          <a:prstGeom prst="rect">
            <a:avLst/>
          </a:prstGeom>
        </p:spPr>
      </p:pic>
    </p:spTree>
    <p:extLst>
      <p:ext uri="{BB962C8B-B14F-4D97-AF65-F5344CB8AC3E}">
        <p14:creationId xmlns:p14="http://schemas.microsoft.com/office/powerpoint/2010/main" val="852833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EEF1F6"/>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a:solidFill>
                  <a:srgbClr val="C77D34"/>
                </a:solidFill>
                <a:latin typeface="IBM Plex Sans" pitchFamily="34" charset="0"/>
                <a:ea typeface="IBM Plex Sans" pitchFamily="34" charset="-122"/>
                <a:cs typeface="IBM Plex Sans" pitchFamily="34" charset="-120"/>
              </a:rPr>
              <a:t>RESULT 4 — SCRUTINY</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Three problems in the paper itself</a:t>
            </a:r>
            <a:endParaRPr lang="en-US" sz="3200" dirty="0"/>
          </a:p>
        </p:txBody>
      </p:sp>
      <p:sp>
        <p:nvSpPr>
          <p:cNvPr id="4" name="Shape 2"/>
          <p:cNvSpPr/>
          <p:nvPr/>
        </p:nvSpPr>
        <p:spPr>
          <a:xfrm>
            <a:off x="815949" y="1824217"/>
            <a:ext cx="10560075" cy="952864"/>
          </a:xfrm>
          <a:prstGeom prst="roundRect">
            <a:avLst>
              <a:gd name="adj" fmla="val 8997"/>
            </a:avLst>
          </a:prstGeom>
          <a:solidFill>
            <a:srgbClr val="FFFFFF"/>
          </a:solidFill>
          <a:ln w="6350">
            <a:solidFill>
              <a:srgbClr val="DDE3EC"/>
            </a:solidFill>
            <a:prstDash val="solid"/>
          </a:ln>
        </p:spPr>
      </p:sp>
      <p:sp>
        <p:nvSpPr>
          <p:cNvPr id="5" name="Text 3"/>
          <p:cNvSpPr/>
          <p:nvPr/>
        </p:nvSpPr>
        <p:spPr>
          <a:xfrm>
            <a:off x="1045947" y="2016175"/>
            <a:ext cx="431790" cy="594349"/>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C77D34"/>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1630113" y="2037767"/>
            <a:ext cx="9801390"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541"/>
                </a:solidFill>
                <a:latin typeface="IBM Plex Sans" pitchFamily="34" charset="0"/>
                <a:ea typeface="IBM Plex Sans" pitchFamily="34" charset="-122"/>
                <a:cs typeface="IBM Plex Sans" pitchFamily="34" charset="-120"/>
              </a:rPr>
              <a:t>Its “precision” columns are recall</a:t>
            </a:r>
            <a:endParaRPr lang="en-US" sz="1600" dirty="0"/>
          </a:p>
        </p:txBody>
      </p:sp>
      <p:sp>
        <p:nvSpPr>
          <p:cNvPr id="7" name="Text 5"/>
          <p:cNvSpPr/>
          <p:nvPr/>
        </p:nvSpPr>
        <p:spPr>
          <a:xfrm>
            <a:off x="1630113" y="2332317"/>
            <a:ext cx="9801390"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Naive Bayes, binary: paper 0.839 / 0.923. Our recall 0.837 / 0.922; our precision 0.915 / 0.850.</a:t>
            </a:r>
            <a:endParaRPr lang="en-US" sz="1300" dirty="0"/>
          </a:p>
        </p:txBody>
      </p:sp>
      <p:sp>
        <p:nvSpPr>
          <p:cNvPr id="8" name="Shape 6"/>
          <p:cNvSpPr/>
          <p:nvPr/>
        </p:nvSpPr>
        <p:spPr>
          <a:xfrm>
            <a:off x="815949" y="2935815"/>
            <a:ext cx="10560075" cy="952864"/>
          </a:xfrm>
          <a:prstGeom prst="roundRect">
            <a:avLst>
              <a:gd name="adj" fmla="val 8997"/>
            </a:avLst>
          </a:prstGeom>
          <a:solidFill>
            <a:srgbClr val="FFFFFF"/>
          </a:solidFill>
          <a:ln w="6350">
            <a:solidFill>
              <a:srgbClr val="DDE3EC"/>
            </a:solidFill>
            <a:prstDash val="solid"/>
          </a:ln>
        </p:spPr>
      </p:sp>
      <p:sp>
        <p:nvSpPr>
          <p:cNvPr id="9" name="Text 7"/>
          <p:cNvSpPr/>
          <p:nvPr/>
        </p:nvSpPr>
        <p:spPr>
          <a:xfrm>
            <a:off x="1045947" y="3127772"/>
            <a:ext cx="431790" cy="594349"/>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C77D34"/>
                </a:solidFill>
                <a:latin typeface="Source Serif 4" pitchFamily="18" charset="0"/>
                <a:ea typeface="Source Serif 4" pitchFamily="18" charset="-122"/>
                <a:cs typeface="Source Serif 4" pitchFamily="18" charset="-120"/>
              </a:rPr>
              <a:t>2</a:t>
            </a:r>
            <a:endParaRPr lang="en-US" sz="3200" dirty="0"/>
          </a:p>
        </p:txBody>
      </p:sp>
      <p:sp>
        <p:nvSpPr>
          <p:cNvPr id="10" name="Text 8"/>
          <p:cNvSpPr/>
          <p:nvPr/>
        </p:nvSpPr>
        <p:spPr>
          <a:xfrm>
            <a:off x="1630113" y="3149364"/>
            <a:ext cx="9801390"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541"/>
                </a:solidFill>
                <a:latin typeface="IBM Plex Sans" pitchFamily="34" charset="0"/>
                <a:ea typeface="IBM Plex Sans" pitchFamily="34" charset="-122"/>
                <a:cs typeface="IBM Plex Sans" pitchFamily="34" charset="-120"/>
              </a:rPr>
              <a:t>Two rows of Table 2 are inconsistent</a:t>
            </a:r>
            <a:endParaRPr lang="en-US" sz="1600" dirty="0"/>
          </a:p>
        </p:txBody>
      </p:sp>
      <p:sp>
        <p:nvSpPr>
          <p:cNvPr id="11" name="Text 9"/>
          <p:cNvSpPr/>
          <p:nvPr/>
        </p:nvSpPr>
        <p:spPr>
          <a:xfrm>
            <a:off x="1630113" y="3443908"/>
            <a:ext cx="9801390"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Naive Bayes tf-idf reports accuracy 0.879 with class scores 0.819 and 0.868 — accuracy cannot exceed both.</a:t>
            </a:r>
            <a:endParaRPr lang="en-US" sz="1300" dirty="0"/>
          </a:p>
        </p:txBody>
      </p:sp>
      <p:sp>
        <p:nvSpPr>
          <p:cNvPr id="12" name="Shape 10"/>
          <p:cNvSpPr/>
          <p:nvPr/>
        </p:nvSpPr>
        <p:spPr>
          <a:xfrm>
            <a:off x="815949" y="4047412"/>
            <a:ext cx="10560075" cy="952864"/>
          </a:xfrm>
          <a:prstGeom prst="roundRect">
            <a:avLst>
              <a:gd name="adj" fmla="val 8997"/>
            </a:avLst>
          </a:prstGeom>
          <a:solidFill>
            <a:srgbClr val="FFFFFF"/>
          </a:solidFill>
          <a:ln w="6350">
            <a:solidFill>
              <a:srgbClr val="DDE3EC"/>
            </a:solidFill>
            <a:prstDash val="solid"/>
          </a:ln>
        </p:spPr>
      </p:sp>
      <p:sp>
        <p:nvSpPr>
          <p:cNvPr id="13" name="Text 11"/>
          <p:cNvSpPr/>
          <p:nvPr/>
        </p:nvSpPr>
        <p:spPr>
          <a:xfrm>
            <a:off x="1045947" y="4239369"/>
            <a:ext cx="431790" cy="594349"/>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C77D34"/>
                </a:solidFill>
                <a:latin typeface="Source Serif 4" pitchFamily="18" charset="0"/>
                <a:ea typeface="Source Serif 4" pitchFamily="18" charset="-122"/>
                <a:cs typeface="Source Serif 4" pitchFamily="18" charset="-120"/>
              </a:rPr>
              <a:t>3</a:t>
            </a:r>
            <a:endParaRPr lang="en-US" sz="3200" dirty="0"/>
          </a:p>
        </p:txBody>
      </p:sp>
      <p:sp>
        <p:nvSpPr>
          <p:cNvPr id="14" name="Text 12"/>
          <p:cNvSpPr/>
          <p:nvPr/>
        </p:nvSpPr>
        <p:spPr>
          <a:xfrm>
            <a:off x="1630113" y="4260962"/>
            <a:ext cx="9801390"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541"/>
                </a:solidFill>
                <a:latin typeface="IBM Plex Sans" pitchFamily="34" charset="0"/>
                <a:ea typeface="IBM Plex Sans" pitchFamily="34" charset="-122"/>
                <a:cs typeface="IBM Plex Sans" pitchFamily="34" charset="-120"/>
              </a:rPr>
              <a:t>The SVM uses C values outside its own grid</a:t>
            </a:r>
            <a:endParaRPr lang="en-US" sz="1600" dirty="0"/>
          </a:p>
        </p:txBody>
      </p:sp>
      <p:sp>
        <p:nvSpPr>
          <p:cNvPr id="15" name="Text 13"/>
          <p:cNvSpPr/>
          <p:nvPr/>
        </p:nvSpPr>
        <p:spPr>
          <a:xfrm>
            <a:off x="1630113" y="4555505"/>
            <a:ext cx="9801390"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stated grid is 0.01 to 1, but the SVM rows report C = 100 and C = 20.</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69"/>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IMPLEMENTATION</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A small package with one shared loop</a:t>
            </a:r>
            <a:endParaRPr lang="en-US" sz="3200" dirty="0"/>
          </a:p>
        </p:txBody>
      </p:sp>
      <p:sp>
        <p:nvSpPr>
          <p:cNvPr id="4" name="Shape 2"/>
          <p:cNvSpPr/>
          <p:nvPr/>
        </p:nvSpPr>
        <p:spPr>
          <a:xfrm>
            <a:off x="812774" y="1795605"/>
            <a:ext cx="6603998" cy="3653790"/>
          </a:xfrm>
          <a:custGeom>
            <a:avLst/>
            <a:gdLst/>
            <a:ahLst/>
            <a:cxnLst/>
            <a:rect l="l" t="t" r="r" b="b"/>
            <a:pathLst>
              <a:path w="6603998" h="3084440">
                <a:moveTo>
                  <a:pt x="6527798" y="0"/>
                </a:moveTo>
                <a:lnTo>
                  <a:pt x="6527798" y="0"/>
                </a:lnTo>
                <a:arcTo wR="76200" hR="76200" stAng="16200000" swAng="5400000"/>
                <a:lnTo>
                  <a:pt x="6603998" y="3008240"/>
                </a:lnTo>
                <a:arcTo wR="76200" hR="76200" stAng="0" swAng="5400000"/>
                <a:lnTo>
                  <a:pt x="76200" y="3084440"/>
                </a:lnTo>
                <a:arcTo wR="76200" hR="76200" stAng="5400000" swAng="5400000"/>
                <a:lnTo>
                  <a:pt x="0" y="3008240"/>
                </a:lnTo>
                <a:arcTo wR="76200" hR="69850" stAng="10800000" swAng="-5400000"/>
                <a:lnTo>
                  <a:pt x="6527798" y="3078090"/>
                </a:lnTo>
                <a:arcTo wR="69850" hR="69850" stAng="5400000" swAng="-5400000"/>
                <a:lnTo>
                  <a:pt x="6597648" y="76200"/>
                </a:lnTo>
                <a:arcTo wR="69850" hR="76200" stAng="0" swAng="-5400000"/>
                <a:close/>
              </a:path>
            </a:pathLst>
          </a:custGeom>
          <a:solidFill>
            <a:srgbClr val="DDE3EC"/>
          </a:solidFill>
          <a:ln/>
        </p:spPr>
      </p:sp>
      <p:sp>
        <p:nvSpPr>
          <p:cNvPr id="5" name="Shape 3"/>
          <p:cNvSpPr/>
          <p:nvPr/>
        </p:nvSpPr>
        <p:spPr>
          <a:xfrm>
            <a:off x="812774" y="1795605"/>
            <a:ext cx="6603998" cy="3653790"/>
          </a:xfrm>
          <a:custGeom>
            <a:avLst/>
            <a:gdLst/>
            <a:ahLst/>
            <a:cxnLst/>
            <a:rect l="l" t="t" r="r" b="b"/>
            <a:pathLst>
              <a:path w="6603998" h="3084440">
                <a:moveTo>
                  <a:pt x="76200" y="3084440"/>
                </a:moveTo>
                <a:lnTo>
                  <a:pt x="76200" y="3084440"/>
                </a:lnTo>
                <a:arcTo wR="76200" hR="76200" stAng="5400000" swAng="5400000"/>
                <a:lnTo>
                  <a:pt x="0" y="76200"/>
                </a:lnTo>
                <a:arcTo wR="76200" hR="76200" stAng="10800000" swAng="5400000"/>
                <a:lnTo>
                  <a:pt x="6527798" y="0"/>
                </a:lnTo>
                <a:arcTo wR="76200" hR="76200" stAng="16200000" swAng="5400000"/>
                <a:lnTo>
                  <a:pt x="6603998" y="76200"/>
                </a:lnTo>
                <a:arcTo wR="76200" hR="66925" stAng="0" swAng="-5400000"/>
                <a:lnTo>
                  <a:pt x="76200" y="9275"/>
                </a:lnTo>
                <a:arcTo wR="66925" hR="66925" stAng="16200000" swAng="-5400000"/>
                <a:lnTo>
                  <a:pt x="9275" y="3008240"/>
                </a:lnTo>
                <a:arcTo wR="66925" hR="762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26129842"/>
              </p:ext>
            </p:extLst>
          </p:nvPr>
        </p:nvGraphicFramePr>
        <p:xfrm>
          <a:off x="822049" y="1804880"/>
          <a:ext cx="6590085" cy="3070528"/>
        </p:xfrm>
        <a:graphic>
          <a:graphicData uri="http://schemas.openxmlformats.org/drawingml/2006/table">
            <a:tbl>
              <a:tblPr/>
              <a:tblGrid>
                <a:gridCol w="2636034">
                  <a:extLst>
                    <a:ext uri="{9D8B030D-6E8A-4147-A177-3AD203B41FA5}">
                      <a16:colId xmlns:a16="http://schemas.microsoft.com/office/drawing/2014/main" val="20000"/>
                    </a:ext>
                  </a:extLst>
                </a:gridCol>
                <a:gridCol w="3954051">
                  <a:extLst>
                    <a:ext uri="{9D8B030D-6E8A-4147-A177-3AD203B41FA5}">
                      <a16:colId xmlns:a16="http://schemas.microsoft.com/office/drawing/2014/main" val="20001"/>
                    </a:ext>
                  </a:extLst>
                </a:gridCol>
              </a:tblGrid>
              <a:tr h="330200">
                <a:tc>
                  <a:txBody>
                    <a:bodyPr/>
                    <a:lstStyle/>
                    <a:p>
                      <a:pPr marL="0" indent="0">
                        <a:lnSpc>
                          <a:spcPts val="1750"/>
                        </a:lnSpc>
                        <a:buNone/>
                      </a:pPr>
                      <a:r>
                        <a:rPr lang="en-US" sz="1250" b="1" dirty="0">
                          <a:solidFill>
                            <a:srgbClr val="FBFBF8"/>
                          </a:solidFill>
                          <a:latin typeface="IBM Plex Sans" pitchFamily="34" charset="0"/>
                          <a:ea typeface="IBM Plex Sans" pitchFamily="34" charset="-122"/>
                          <a:cs typeface="IBM Plex Sans" pitchFamily="34" charset="-120"/>
                        </a:rPr>
                        <a:t>Module</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1A2137"/>
                      </a:solidFill>
                      <a:prstDash val="solid"/>
                      <a:round/>
                      <a:headEnd type="none" w="med" len="med"/>
                      <a:tailEnd type="none" w="med" len="med"/>
                    </a:lnR>
                    <a:lnT w="0" cap="flat" cmpd="sng" algn="ctr">
                      <a:noFill/>
                    </a:lnT>
                    <a:lnB w="12700" cap="flat" cmpd="sng" algn="ctr">
                      <a:solidFill>
                        <a:srgbClr val="1A2137"/>
                      </a:solidFill>
                      <a:prstDash val="solid"/>
                      <a:round/>
                      <a:headEnd type="none" w="med" len="med"/>
                      <a:tailEnd type="none" w="med" len="med"/>
                    </a:lnB>
                    <a:solidFill>
                      <a:srgbClr val="1C2541"/>
                    </a:solidFill>
                  </a:tcPr>
                </a:tc>
                <a:tc>
                  <a:txBody>
                    <a:bodyPr/>
                    <a:lstStyle/>
                    <a:p>
                      <a:pPr marL="0" indent="0">
                        <a:lnSpc>
                          <a:spcPts val="1750"/>
                        </a:lnSpc>
                        <a:buNone/>
                      </a:pPr>
                      <a:r>
                        <a:rPr lang="en-US" sz="1250" b="1" dirty="0">
                          <a:solidFill>
                            <a:srgbClr val="FBFBF8"/>
                          </a:solidFill>
                          <a:latin typeface="IBM Plex Sans" pitchFamily="34" charset="0"/>
                          <a:ea typeface="IBM Plex Sans" pitchFamily="34" charset="-122"/>
                          <a:cs typeface="IBM Plex Sans" pitchFamily="34" charset="-120"/>
                        </a:rPr>
                        <a:t>Job</a:t>
                      </a:r>
                      <a:endParaRPr lang="en-US" sz="1250" dirty="0">
                        <a:latin typeface="IBM Plex Sans" charset="0"/>
                        <a:ea typeface="IBM Plex Sans" charset="0"/>
                        <a:cs typeface="IBM Plex Sans" charset="0"/>
                      </a:endParaRPr>
                    </a:p>
                  </a:txBody>
                  <a:tcPr marL="127000" marR="127000" marT="76200" marB="76200">
                    <a:lnL w="12700" cap="flat" cmpd="sng" algn="ctr">
                      <a:solidFill>
                        <a:srgbClr val="1A2137"/>
                      </a:solidFill>
                      <a:prstDash val="solid"/>
                      <a:round/>
                      <a:headEnd type="none" w="med" len="med"/>
                      <a:tailEnd type="none" w="med" len="med"/>
                    </a:lnL>
                    <a:lnR w="12700" cap="flat" cmpd="sng" algn="ctr">
                      <a:solidFill>
                        <a:srgbClr val="1A2137"/>
                      </a:solidFill>
                      <a:prstDash val="solid"/>
                      <a:round/>
                      <a:headEnd type="none" w="med" len="med"/>
                      <a:tailEnd type="none" w="med" len="med"/>
                    </a:lnR>
                    <a:lnT w="0" cap="flat" cmpd="sng" algn="ctr">
                      <a:noFill/>
                    </a:lnT>
                    <a:lnB w="12700" cap="flat" cmpd="sng" algn="ctr">
                      <a:solidFill>
                        <a:srgbClr val="1A2137"/>
                      </a:solidFill>
                      <a:prstDash val="solid"/>
                      <a:round/>
                      <a:headEnd type="none" w="med" len="med"/>
                      <a:tailEnd type="none" w="med" len="med"/>
                    </a:lnB>
                    <a:solidFill>
                      <a:srgbClr val="1C2541"/>
                    </a:solidFill>
                  </a:tcPr>
                </a:tc>
                <a:extLst>
                  <a:ext uri="{0D108BD9-81ED-4DB2-BD59-A6C34878D82A}">
                    <a16:rowId xmlns:a16="http://schemas.microsoft.com/office/drawing/2014/main" val="10000"/>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data.py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8C8C6"/>
                      </a:solidFill>
                      <a:prstDash val="solid"/>
                      <a:round/>
                      <a:headEnd type="none" w="med" len="med"/>
                      <a:tailEnd type="none" w="med" len="med"/>
                    </a:lnR>
                    <a:lnT w="12700" cap="flat" cmpd="sng" algn="ctr">
                      <a:solidFill>
                        <a:srgbClr val="1A2137"/>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Download, load, tag each review's movie</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A2137"/>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preprocess.py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Three cleaning modes, cached</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2"/>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features.py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One vocabulary, three matrices</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nbsvm.py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NB-SVM / NB-LR classifier</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4"/>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experiments/runner.py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Tune on validation, test once</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750"/>
                        </a:lnSpc>
                        <a:buNone/>
                      </a:pPr>
                      <a:r>
                        <a:rPr lang="en-US" sz="1250">
                          <a:latin typeface="IBM Plex Sans" charset="0"/>
                          <a:ea typeface="IBM Plex Sans" charset="0"/>
                          <a:cs typeface="IBM Plex Sans" charset="0"/>
                        </a:rPr>
                        <a:t>transformer_models.py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3F5F9"/>
                    </a:solidFill>
                  </a:tcPr>
                </a:tc>
                <a:tc>
                  <a:txBody>
                    <a:bodyPr/>
                    <a:lstStyle/>
                    <a:p>
                      <a:pPr marL="0" indent="0">
                        <a:lnSpc>
                          <a:spcPts val="1750"/>
                        </a:lnSpc>
                        <a:buNone/>
                      </a:pPr>
                      <a:r>
                        <a:rPr lang="en-US" sz="1250">
                          <a:latin typeface="IBM Plex Sans" charset="0"/>
                          <a:ea typeface="IBM Plex Sans" charset="0"/>
                          <a:cs typeface="IBM Plex Sans" charset="0"/>
                        </a:rPr>
                        <a:t>Fine-tune DistilBERT, RoBERTa</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3F5F9"/>
                    </a:solidFill>
                  </a:tcPr>
                </a:tc>
                <a:extLst>
                  <a:ext uri="{0D108BD9-81ED-4DB2-BD59-A6C34878D82A}">
                    <a16:rowId xmlns:a16="http://schemas.microsoft.com/office/drawing/2014/main" val="1772445686"/>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evaluate.py, plots.py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tc>
                  <a:txBody>
                    <a:bodyPr/>
                    <a:lstStyle/>
                    <a:p>
                      <a:pPr marL="0" indent="0">
                        <a:lnSpc>
                          <a:spcPts val="1750"/>
                        </a:lnSpc>
                        <a:buNone/>
                      </a:pPr>
                      <a:r>
                        <a:rPr lang="en-US" sz="1250">
                          <a:solidFill>
                            <a:srgbClr val="1C2541"/>
                          </a:solidFill>
                          <a:latin typeface="IBM Plex Sans" pitchFamily="34" charset="0"/>
                          <a:ea typeface="IBM Plex Sans" pitchFamily="34" charset="-122"/>
                          <a:cs typeface="IBM Plex Sans" pitchFamily="34" charset="-120"/>
                        </a:rPr>
                        <a:t>Metrics, comparison, figures</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9"/>
                    </a:solidFill>
                  </a:tcPr>
                </a:tc>
                <a:extLst>
                  <a:ext uri="{0D108BD9-81ED-4DB2-BD59-A6C34878D82A}">
                    <a16:rowId xmlns:a16="http://schemas.microsoft.com/office/drawing/2014/main" val="10006"/>
                  </a:ext>
                </a:extLst>
              </a:tr>
              <a:tr h="330200">
                <a:tc>
                  <a:txBody>
                    <a:bodyPr/>
                    <a:lstStyle/>
                    <a:p>
                      <a:pPr marL="0" indent="0">
                        <a:lnSpc>
                          <a:spcPts val="1750"/>
                        </a:lnSpc>
                        <a:buNone/>
                      </a:pPr>
                      <a:r>
                        <a:rPr lang="en-US" sz="1250">
                          <a:latin typeface="IBM Plex Sans" charset="0"/>
                          <a:ea typeface="IBM Plex Sans" charset="0"/>
                          <a:cs typeface="IBM Plex Sans" charset="0"/>
                        </a:rPr>
                        <a:t>final_comparison.py</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marL="0" indent="0">
                        <a:lnSpc>
                          <a:spcPts val="1750"/>
                        </a:lnSpc>
                        <a:buNone/>
                      </a:pPr>
                      <a:r>
                        <a:rPr lang="en-US" sz="1250">
                          <a:latin typeface="IBM Plex Sans" charset="0"/>
                          <a:ea typeface="IBM Plex Sans" charset="0"/>
                          <a:cs typeface="IBM Plex Sans" charset="0"/>
                        </a:rPr>
                        <a:t>Confidence intervals, McNemar tests</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extLst>
                  <a:ext uri="{0D108BD9-81ED-4DB2-BD59-A6C34878D82A}">
                    <a16:rowId xmlns:a16="http://schemas.microsoft.com/office/drawing/2014/main" val="90288406"/>
                  </a:ext>
                </a:extLst>
              </a:tr>
              <a:tr h="330200">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app/app.py, notebook</a:t>
                      </a:r>
                      <a:endParaRPr lang="en-US" sz="1250" dirty="0">
                        <a:latin typeface="IBM Plex Sans" charset="0"/>
                        <a:ea typeface="IBM Plex Sans" charset="0"/>
                        <a:cs typeface="IBM Plex Sans" charset="0"/>
                      </a:endParaRPr>
                    </a:p>
                  </a:txBody>
                  <a:tcPr marL="127000" marR="127000" marT="76200" marB="76200">
                    <a:lnL w="0" cap="flat" cmpd="sng" algn="ctr">
                      <a:noFill/>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750"/>
                        </a:lnSpc>
                        <a:buNone/>
                      </a:pPr>
                      <a:r>
                        <a:rPr lang="en-US" sz="1250" dirty="0">
                          <a:solidFill>
                            <a:srgbClr val="1C2541"/>
                          </a:solidFill>
                          <a:latin typeface="IBM Plex Sans" pitchFamily="34" charset="0"/>
                          <a:ea typeface="IBM Plex Sans" pitchFamily="34" charset="-122"/>
                          <a:cs typeface="IBM Plex Sans" pitchFamily="34" charset="-120"/>
                        </a:rPr>
                        <a:t>Streamlit demo and walkthrough</a:t>
                      </a:r>
                      <a:endParaRPr lang="en-US" sz="1250" dirty="0">
                        <a:latin typeface="IBM Plex Sans" charset="0"/>
                        <a:ea typeface="IBM Plex Sans" charset="0"/>
                        <a:cs typeface="IBM Plex Sans" charset="0"/>
                      </a:endParaRPr>
                    </a:p>
                  </a:txBody>
                  <a:tcPr marL="127000" marR="1270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4"/>
          <p:cNvSpPr/>
          <p:nvPr/>
        </p:nvSpPr>
        <p:spPr>
          <a:xfrm>
            <a:off x="7645308" y="1790700"/>
            <a:ext cx="3733891" cy="1133757"/>
          </a:xfrm>
          <a:prstGeom prst="roundRect">
            <a:avLst>
              <a:gd name="adj" fmla="val 8665"/>
            </a:avLst>
          </a:prstGeom>
          <a:solidFill>
            <a:srgbClr val="EEF1F6"/>
          </a:solidFill>
          <a:ln/>
        </p:spPr>
      </p:sp>
      <p:sp>
        <p:nvSpPr>
          <p:cNvPr id="8" name="Text 5"/>
          <p:cNvSpPr/>
          <p:nvPr/>
        </p:nvSpPr>
        <p:spPr>
          <a:xfrm>
            <a:off x="7835802" y="1993900"/>
            <a:ext cx="345348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5D8C"/>
                </a:solidFill>
                <a:latin typeface="IBM Plex Sans" pitchFamily="34" charset="0"/>
                <a:ea typeface="IBM Plex Sans" pitchFamily="34" charset="-122"/>
                <a:cs typeface="IBM Plex Sans" pitchFamily="34" charset="-120"/>
              </a:rPr>
              <a:t>Reproducible</a:t>
            </a:r>
            <a:endParaRPr lang="en-US" sz="1400" dirty="0"/>
          </a:p>
        </p:txBody>
      </p:sp>
      <p:sp>
        <p:nvSpPr>
          <p:cNvPr id="9" name="Text 6"/>
          <p:cNvSpPr/>
          <p:nvPr/>
        </p:nvSpPr>
        <p:spPr>
          <a:xfrm>
            <a:off x="7835802" y="2273300"/>
            <a:ext cx="3453488" cy="469864"/>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One seed (42). Every experiment writes a CSV to results/.</a:t>
            </a:r>
            <a:endParaRPr lang="en-US" sz="1250" dirty="0"/>
          </a:p>
        </p:txBody>
      </p:sp>
      <p:sp>
        <p:nvSpPr>
          <p:cNvPr id="10" name="Shape 7"/>
          <p:cNvSpPr/>
          <p:nvPr/>
        </p:nvSpPr>
        <p:spPr>
          <a:xfrm>
            <a:off x="7645308" y="3051457"/>
            <a:ext cx="3733891" cy="1133757"/>
          </a:xfrm>
          <a:prstGeom prst="roundRect">
            <a:avLst>
              <a:gd name="adj" fmla="val 8665"/>
            </a:avLst>
          </a:prstGeom>
          <a:solidFill>
            <a:srgbClr val="EEF1F6"/>
          </a:solidFill>
          <a:ln/>
        </p:spPr>
      </p:sp>
      <p:sp>
        <p:nvSpPr>
          <p:cNvPr id="11" name="Text 8"/>
          <p:cNvSpPr/>
          <p:nvPr/>
        </p:nvSpPr>
        <p:spPr>
          <a:xfrm>
            <a:off x="7835802" y="3254657"/>
            <a:ext cx="345348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5D8C"/>
                </a:solidFill>
                <a:latin typeface="IBM Plex Sans" pitchFamily="34" charset="0"/>
                <a:ea typeface="IBM Plex Sans" pitchFamily="34" charset="-122"/>
                <a:cs typeface="IBM Plex Sans" pitchFamily="34" charset="-120"/>
              </a:rPr>
              <a:t>Quick to check</a:t>
            </a:r>
            <a:endParaRPr lang="en-US" sz="1400" dirty="0"/>
          </a:p>
        </p:txBody>
      </p:sp>
      <p:sp>
        <p:nvSpPr>
          <p:cNvPr id="12" name="Text 9"/>
          <p:cNvSpPr/>
          <p:nvPr/>
        </p:nvSpPr>
        <p:spPr>
          <a:xfrm>
            <a:off x="7835802" y="3534057"/>
            <a:ext cx="3453488" cy="469864"/>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--quick runs any experiment on 2,000 reviews in under a minute.</a:t>
            </a:r>
            <a:endParaRPr lang="en-US" sz="1250" dirty="0"/>
          </a:p>
        </p:txBody>
      </p:sp>
      <p:sp>
        <p:nvSpPr>
          <p:cNvPr id="13" name="Shape 10"/>
          <p:cNvSpPr/>
          <p:nvPr/>
        </p:nvSpPr>
        <p:spPr>
          <a:xfrm>
            <a:off x="7645308" y="4312214"/>
            <a:ext cx="3733891" cy="1133757"/>
          </a:xfrm>
          <a:prstGeom prst="roundRect">
            <a:avLst>
              <a:gd name="adj" fmla="val 8665"/>
            </a:avLst>
          </a:prstGeom>
          <a:solidFill>
            <a:srgbClr val="EEF1F6"/>
          </a:solidFill>
          <a:ln/>
        </p:spPr>
      </p:sp>
      <p:sp>
        <p:nvSpPr>
          <p:cNvPr id="14" name="Text 11"/>
          <p:cNvSpPr/>
          <p:nvPr/>
        </p:nvSpPr>
        <p:spPr>
          <a:xfrm>
            <a:off x="7835802" y="4515414"/>
            <a:ext cx="345348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5D8C"/>
                </a:solidFill>
                <a:latin typeface="IBM Plex Sans" pitchFamily="34" charset="0"/>
                <a:ea typeface="IBM Plex Sans" pitchFamily="34" charset="-122"/>
                <a:cs typeface="IBM Plex Sans" pitchFamily="34" charset="-120"/>
              </a:rPr>
              <a:t>Standard stack</a:t>
            </a:r>
            <a:endParaRPr lang="en-US" sz="1400" dirty="0"/>
          </a:p>
        </p:txBody>
      </p:sp>
      <p:sp>
        <p:nvSpPr>
          <p:cNvPr id="15" name="Text 12"/>
          <p:cNvSpPr/>
          <p:nvPr/>
        </p:nvSpPr>
        <p:spPr>
          <a:xfrm>
            <a:off x="7835802" y="4794814"/>
            <a:ext cx="3453488" cy="469864"/>
          </a:xfrm>
          <a:prstGeom prst="rect">
            <a:avLst/>
          </a:prstGeom>
          <a:noFill/>
          <a:ln/>
        </p:spPr>
        <p:txBody>
          <a:bodyPr wrap="square" lIns="0" tIns="0" rIns="0" bIns="0" rtlCol="0" anchor="t">
            <a:normAutofit/>
          </a:bodyPr>
          <a:lstStyle/>
          <a:p>
            <a:pPr marL="0" indent="0" algn="l">
              <a:lnSpc>
                <a:spcPts val="1750"/>
              </a:lnSpc>
              <a:buNone/>
            </a:pPr>
            <a:r>
              <a:rPr lang="en-GB" sz="1250">
                <a:solidFill>
                  <a:srgbClr val="4A5568"/>
                </a:solidFill>
                <a:latin typeface="IBM Plex Sans" pitchFamily="34" charset="0"/>
                <a:ea typeface="IBM Plex Sans" pitchFamily="34" charset="-122"/>
                <a:cs typeface="IBM Plex Sans" pitchFamily="34" charset="-120"/>
              </a:rPr>
              <a:t>scikit-learn, NLTK, pandas, Streamlit; PyTorch and Hugging Face for transformers.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INDIVIDUAL CONTRIBUTIONS</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Who built what</a:t>
            </a:r>
            <a:endParaRPr lang="en-US" sz="3200" dirty="0"/>
          </a:p>
        </p:txBody>
      </p:sp>
      <p:sp>
        <p:nvSpPr>
          <p:cNvPr id="4" name="Shape 2"/>
          <p:cNvSpPr/>
          <p:nvPr/>
        </p:nvSpPr>
        <p:spPr>
          <a:xfrm>
            <a:off x="815949" y="1849580"/>
            <a:ext cx="5175275" cy="2311400"/>
          </a:xfrm>
          <a:prstGeom prst="roundRect">
            <a:avLst>
              <a:gd name="adj" fmla="val 4161"/>
            </a:avLst>
          </a:prstGeom>
          <a:solidFill>
            <a:srgbClr val="FFFFFF"/>
          </a:solidFill>
          <a:ln w="6350">
            <a:solidFill>
              <a:srgbClr val="DDE3EC"/>
            </a:solidFill>
            <a:prstDash val="solid"/>
          </a:ln>
        </p:spPr>
      </p:sp>
      <p:sp>
        <p:nvSpPr>
          <p:cNvPr id="5" name="Text 3"/>
          <p:cNvSpPr/>
          <p:nvPr/>
        </p:nvSpPr>
        <p:spPr>
          <a:xfrm>
            <a:off x="1071381" y="2079582"/>
            <a:ext cx="4804344" cy="360668"/>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541"/>
                </a:solidFill>
                <a:latin typeface="Source Serif 4" pitchFamily="18" charset="0"/>
                <a:ea typeface="Source Serif 4" pitchFamily="18" charset="-122"/>
                <a:cs typeface="Source Serif 4" pitchFamily="18" charset="-120"/>
              </a:rPr>
              <a:t>Arjun G Kanagal</a:t>
            </a:r>
            <a:endParaRPr lang="en-US" sz="2200" dirty="0"/>
          </a:p>
        </p:txBody>
      </p:sp>
      <p:sp>
        <p:nvSpPr>
          <p:cNvPr id="6" name="Text 4"/>
          <p:cNvSpPr/>
          <p:nvPr/>
        </p:nvSpPr>
        <p:spPr>
          <a:xfrm>
            <a:off x="1098813" y="2541798"/>
            <a:ext cx="4770816" cy="1163298"/>
          </a:xfrm>
          <a:prstGeom prst="rect">
            <a:avLst/>
          </a:prstGeom>
          <a:noFill/>
          <a:ln/>
        </p:spPr>
        <p:txBody>
          <a:bodyPr wrap="square" lIns="0" tIns="0" rIns="0" bIns="0" rtlCol="0" anchor="t">
            <a:normAutofit/>
          </a:bodyPr>
          <a:lstStyle/>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Shared core: data, cleaning, features</a:t>
            </a:r>
            <a:endParaRPr lang="en-US" sz="1400" dirty="0"/>
          </a:p>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Reproduction: LR, SVM, Naive Bayes</a:t>
            </a:r>
            <a:endParaRPr lang="en-US" sz="1400" dirty="0"/>
          </a:p>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NB-SVM / NB-LR, cleaning ablation, wider C grid</a:t>
            </a:r>
            <a:endParaRPr lang="en-US" sz="1400" dirty="0"/>
          </a:p>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Streamlit </a:t>
            </a:r>
            <a:r>
              <a:rPr lang="en-US" sz="1400">
                <a:solidFill>
                  <a:srgbClr val="4A5568"/>
                </a:solidFill>
                <a:latin typeface="IBM Plex Sans" pitchFamily="34" charset="0"/>
                <a:ea typeface="IBM Plex Sans" pitchFamily="34" charset="-122"/>
                <a:cs typeface="IBM Plex Sans" pitchFamily="34" charset="-120"/>
              </a:rPr>
              <a:t>web demo</a:t>
            </a:r>
            <a:endParaRPr lang="en-GB" sz="1400">
              <a:solidFill>
                <a:srgbClr val="4A5568"/>
              </a:solidFill>
              <a:latin typeface="IBM Plex Sans" pitchFamily="34" charset="0"/>
              <a:ea typeface="IBM Plex Sans" pitchFamily="34" charset="-122"/>
              <a:cs typeface="IBM Plex Sans" pitchFamily="34" charset="-120"/>
            </a:endParaRPr>
          </a:p>
          <a:p>
            <a:pPr marL="175768" indent="-175768" algn="l">
              <a:lnSpc>
                <a:spcPts val="2240"/>
              </a:lnSpc>
              <a:buSzPct val="100000"/>
              <a:buChar char="•"/>
            </a:pPr>
            <a:r>
              <a:rPr lang="en-GB" sz="1400">
                <a:solidFill>
                  <a:srgbClr val="4A5568"/>
                </a:solidFill>
                <a:latin typeface="IBM Plex Sans" pitchFamily="34" charset="0"/>
                <a:ea typeface="IBM Plex Sans" pitchFamily="34" charset="-122"/>
                <a:cs typeface="IBM Plex Sans" pitchFamily="34" charset="-120"/>
              </a:rPr>
              <a:t>Fine-tuned DistilBERT and RoBERTa, intervals and tests</a:t>
            </a:r>
            <a:endParaRPr lang="en-US" sz="1400" dirty="0"/>
          </a:p>
        </p:txBody>
      </p:sp>
      <p:sp>
        <p:nvSpPr>
          <p:cNvPr id="7" name="Shape 5"/>
          <p:cNvSpPr/>
          <p:nvPr/>
        </p:nvSpPr>
        <p:spPr>
          <a:xfrm>
            <a:off x="6200749" y="1849580"/>
            <a:ext cx="5175275" cy="2311400"/>
          </a:xfrm>
          <a:prstGeom prst="roundRect">
            <a:avLst>
              <a:gd name="adj" fmla="val 4161"/>
            </a:avLst>
          </a:prstGeom>
          <a:solidFill>
            <a:srgbClr val="FFFFFF"/>
          </a:solidFill>
          <a:ln w="6350">
            <a:solidFill>
              <a:srgbClr val="DDE3EC"/>
            </a:solidFill>
            <a:prstDash val="solid"/>
          </a:ln>
        </p:spPr>
      </p:sp>
      <p:sp>
        <p:nvSpPr>
          <p:cNvPr id="8" name="Text 6"/>
          <p:cNvSpPr/>
          <p:nvPr/>
        </p:nvSpPr>
        <p:spPr>
          <a:xfrm>
            <a:off x="6456181" y="2079582"/>
            <a:ext cx="4804344" cy="360668"/>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541"/>
                </a:solidFill>
                <a:latin typeface="Source Serif 4" pitchFamily="18" charset="0"/>
                <a:ea typeface="Source Serif 4" pitchFamily="18" charset="-122"/>
                <a:cs typeface="Source Serif 4" pitchFamily="18" charset="-120"/>
              </a:rPr>
              <a:t>Vedaraj H R</a:t>
            </a:r>
            <a:endParaRPr lang="en-US" sz="2200" dirty="0"/>
          </a:p>
        </p:txBody>
      </p:sp>
      <p:sp>
        <p:nvSpPr>
          <p:cNvPr id="9" name="Text 7"/>
          <p:cNvSpPr/>
          <p:nvPr/>
        </p:nvSpPr>
        <p:spPr>
          <a:xfrm>
            <a:off x="6483613" y="2541798"/>
            <a:ext cx="4770816" cy="1163298"/>
          </a:xfrm>
          <a:prstGeom prst="rect">
            <a:avLst/>
          </a:prstGeom>
          <a:noFill/>
          <a:ln/>
        </p:spPr>
        <p:txBody>
          <a:bodyPr wrap="square" lIns="0" tIns="0" rIns="0" bIns="0" rtlCol="0" anchor="t">
            <a:normAutofit/>
          </a:bodyPr>
          <a:lstStyle/>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Evaluation metrics and comparison figures</a:t>
            </a:r>
            <a:endParaRPr lang="en-US" sz="1400" dirty="0"/>
          </a:p>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Reproduction: Random Forest, Boosting, DNN</a:t>
            </a:r>
            <a:endParaRPr lang="en-US" sz="1400" dirty="0"/>
          </a:p>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Wider MLP and the ensemble</a:t>
            </a:r>
            <a:endParaRPr lang="en-US" sz="1400" dirty="0"/>
          </a:p>
          <a:p>
            <a:pPr marL="175768" indent="-175768" algn="l">
              <a:lnSpc>
                <a:spcPts val="2240"/>
              </a:lnSpc>
              <a:buSzPct val="100000"/>
              <a:buChar char="•"/>
            </a:pPr>
            <a:r>
              <a:rPr lang="en-US" sz="1400" dirty="0">
                <a:solidFill>
                  <a:srgbClr val="4A5568"/>
                </a:solidFill>
                <a:latin typeface="IBM Plex Sans" pitchFamily="34" charset="0"/>
                <a:ea typeface="IBM Plex Sans" pitchFamily="34" charset="-122"/>
                <a:cs typeface="IBM Plex Sans" pitchFamily="34" charset="-120"/>
              </a:rPr>
              <a:t>Walkthrough notebook</a:t>
            </a:r>
            <a:endParaRPr lang="en-US" sz="1400" dirty="0"/>
          </a:p>
        </p:txBody>
      </p:sp>
      <p:sp>
        <p:nvSpPr>
          <p:cNvPr id="10" name="Text 8"/>
          <p:cNvSpPr/>
          <p:nvPr/>
        </p:nvSpPr>
        <p:spPr>
          <a:xfrm>
            <a:off x="812774" y="6238298"/>
            <a:ext cx="83814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6"/>
                </a:solidFill>
                <a:latin typeface="IBM Plex Sans" pitchFamily="34" charset="0"/>
                <a:ea typeface="IBM Plex Sans" pitchFamily="34" charset="-122"/>
                <a:cs typeface="IBM Plex Sans" pitchFamily="34" charset="-120"/>
              </a:rPr>
              <a:t>Each half was committed from its author's own account; the split follows the linear / nonlinear models.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CONCLUSIONS</a:t>
            </a:r>
            <a:endParaRPr lang="en-US" sz="1300" dirty="0"/>
          </a:p>
        </p:txBody>
      </p:sp>
      <p:sp>
        <p:nvSpPr>
          <p:cNvPr id="3" name="Text 1"/>
          <p:cNvSpPr>
            <a:spLocks noGrp="1"/>
          </p:cNvSpPr>
          <p:nvPr>
            <p:ph type="title"/>
          </p:nvPr>
        </p:nvSpPr>
        <p:spPr>
          <a:xfrm>
            <a:off x="812774" y="1120074"/>
            <a:ext cx="10883418" cy="4724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541"/>
                </a:solidFill>
                <a:latin typeface="Source Serif 4" pitchFamily="18" charset="0"/>
                <a:ea typeface="Source Serif 4" pitchFamily="18" charset="-122"/>
                <a:cs typeface="Source Serif 4" pitchFamily="18" charset="-120"/>
              </a:rPr>
              <a:t>What we can and cannot claim</a:t>
            </a:r>
            <a:endParaRPr lang="en-US" sz="3200" dirty="0"/>
          </a:p>
        </p:txBody>
      </p:sp>
      <p:sp>
        <p:nvSpPr>
          <p:cNvPr id="4" name="Shape 2"/>
          <p:cNvSpPr/>
          <p:nvPr/>
        </p:nvSpPr>
        <p:spPr>
          <a:xfrm>
            <a:off x="812774" y="1821041"/>
            <a:ext cx="5670217" cy="3848100"/>
          </a:xfrm>
          <a:prstGeom prst="roundRect">
            <a:avLst>
              <a:gd name="adj" fmla="val 2586"/>
            </a:avLst>
          </a:prstGeom>
          <a:solidFill>
            <a:srgbClr val="1C2541"/>
          </a:solidFill>
          <a:ln/>
        </p:spPr>
      </p:sp>
      <p:sp>
        <p:nvSpPr>
          <p:cNvPr id="5" name="Text 3"/>
          <p:cNvSpPr/>
          <p:nvPr/>
        </p:nvSpPr>
        <p:spPr>
          <a:xfrm>
            <a:off x="1066743" y="2049580"/>
            <a:ext cx="5317147"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C77D34"/>
                </a:solidFill>
                <a:latin typeface="IBM Plex Sans" pitchFamily="34" charset="0"/>
                <a:ea typeface="IBM Plex Sans" pitchFamily="34" charset="-122"/>
                <a:cs typeface="IBM Plex Sans" pitchFamily="34" charset="-120"/>
              </a:rPr>
              <a:t>Findings</a:t>
            </a:r>
            <a:endParaRPr lang="en-US" sz="1500" dirty="0"/>
          </a:p>
        </p:txBody>
      </p:sp>
      <p:sp>
        <p:nvSpPr>
          <p:cNvPr id="6" name="Text 4"/>
          <p:cNvSpPr/>
          <p:nvPr/>
        </p:nvSpPr>
        <p:spPr>
          <a:xfrm>
            <a:off x="1100906" y="2392381"/>
            <a:ext cx="5276888" cy="3048000"/>
          </a:xfrm>
          <a:prstGeom prst="rect">
            <a:avLst/>
          </a:prstGeom>
          <a:noFill/>
          <a:ln/>
        </p:spPr>
        <p:txBody>
          <a:bodyPr wrap="square" lIns="0" tIns="0" rIns="0" bIns="0" rtlCol="0" anchor="t">
            <a:normAutofit/>
          </a:bodyPr>
          <a:lstStyle/>
          <a:p>
            <a:pPr marL="169037" indent="-169037" algn="l">
              <a:lnSpc>
                <a:spcPts val="2025"/>
              </a:lnSpc>
              <a:buSzPct val="100000"/>
              <a:buChar char="•"/>
            </a:pPr>
            <a:r>
              <a:rPr lang="en-GB" sz="1350">
                <a:solidFill>
                  <a:srgbClr val="EAF0F7"/>
                </a:solidFill>
                <a:latin typeface="IBM Plex Sans" pitchFamily="34" charset="0"/>
                <a:ea typeface="IBM Plex Sans" pitchFamily="34" charset="-122"/>
                <a:cs typeface="IBM Plex Sans" pitchFamily="34" charset="-120"/>
              </a:rPr>
              <a:t>Linear models reproduce within 0.35 points; the rest within 1.7.</a:t>
            </a:r>
          </a:p>
          <a:p>
            <a:pPr marL="169037" indent="-169037" algn="l">
              <a:lnSpc>
                <a:spcPts val="2025"/>
              </a:lnSpc>
              <a:buSzPct val="100000"/>
              <a:buChar char="•"/>
            </a:pPr>
            <a:r>
              <a:rPr lang="en-GB" sz="1350">
                <a:solidFill>
                  <a:srgbClr val="EAF0F7"/>
                </a:solidFill>
                <a:latin typeface="IBM Plex Sans" pitchFamily="34" charset="0"/>
                <a:ea typeface="IBM Plex Sans" pitchFamily="34" charset="-122"/>
                <a:cs typeface="IBM Plex Sans" pitchFamily="34" charset="-120"/>
              </a:rPr>
              <a:t>90.6% becomes 91.8% with n-gram models and 95.9% with fine-tuned RoBERTa.</a:t>
            </a:r>
          </a:p>
          <a:p>
            <a:pPr marL="169037" indent="-169037" algn="l">
              <a:lnSpc>
                <a:spcPts val="2025"/>
              </a:lnSpc>
              <a:buSzPct val="100000"/>
              <a:buChar char="•"/>
            </a:pPr>
            <a:r>
              <a:rPr lang="en-GB" sz="1350">
                <a:solidFill>
                  <a:srgbClr val="EAF0F7"/>
                </a:solidFill>
                <a:latin typeface="IBM Plex Sans" pitchFamily="34" charset="0"/>
                <a:ea typeface="IBM Plex Sans" pitchFamily="34" charset="-122"/>
                <a:cs typeface="IBM Plex Sans" pitchFamily="34" charset="-120"/>
              </a:rPr>
              <a:t>N-gram gains come from features, cleaning and tuning; the jump to 95.9% from pretraining.</a:t>
            </a:r>
          </a:p>
          <a:p>
            <a:pPr marL="169037" indent="-169037" algn="l">
              <a:lnSpc>
                <a:spcPts val="2025"/>
              </a:lnSpc>
              <a:buSzPct val="100000"/>
              <a:buChar char="•"/>
            </a:pPr>
            <a:r>
              <a:rPr lang="en-GB" sz="1350">
                <a:solidFill>
                  <a:srgbClr val="EAF0F7"/>
                </a:solidFill>
                <a:latin typeface="IBM Plex Sans" pitchFamily="34" charset="0"/>
                <a:ea typeface="IBM Plex Sans" pitchFamily="34" charset="-122"/>
                <a:cs typeface="IBM Plex Sans" pitchFamily="34" charset="-120"/>
              </a:rPr>
              <a:t>RoBERTa's lead is far outside noise: 95% interval 95.6–96.1%.</a:t>
            </a:r>
          </a:p>
          <a:p>
            <a:pPr marL="169037" indent="-169037" algn="l">
              <a:lnSpc>
                <a:spcPts val="2025"/>
              </a:lnSpc>
              <a:buSzPct val="100000"/>
              <a:buChar char="•"/>
            </a:pPr>
            <a:r>
              <a:rPr lang="en-GB" sz="1350">
                <a:solidFill>
                  <a:srgbClr val="EAF0F7"/>
                </a:solidFill>
                <a:latin typeface="IBM Plex Sans" pitchFamily="34" charset="0"/>
                <a:ea typeface="IBM Plex Sans" pitchFamily="34" charset="-122"/>
                <a:cs typeface="IBM Plex Sans" pitchFamily="34" charset="-120"/>
              </a:rPr>
              <a:t>The paper mislabels recall and has inconsistent rows.</a:t>
            </a:r>
            <a:endParaRPr lang="en-US" sz="1350" dirty="0"/>
          </a:p>
        </p:txBody>
      </p:sp>
      <p:sp>
        <p:nvSpPr>
          <p:cNvPr id="7" name="Shape 5"/>
          <p:cNvSpPr/>
          <p:nvPr/>
        </p:nvSpPr>
        <p:spPr>
          <a:xfrm>
            <a:off x="6689341" y="1824217"/>
            <a:ext cx="4686683" cy="2540000"/>
          </a:xfrm>
          <a:prstGeom prst="roundRect">
            <a:avLst>
              <a:gd name="adj" fmla="val 4049"/>
            </a:avLst>
          </a:prstGeom>
          <a:solidFill>
            <a:srgbClr val="FFFFFF"/>
          </a:solidFill>
          <a:ln w="6350">
            <a:solidFill>
              <a:srgbClr val="DDE3EC"/>
            </a:solidFill>
            <a:prstDash val="solid"/>
          </a:ln>
        </p:spPr>
      </p:sp>
      <p:sp>
        <p:nvSpPr>
          <p:cNvPr id="8" name="Text 6"/>
          <p:cNvSpPr/>
          <p:nvPr/>
        </p:nvSpPr>
        <p:spPr>
          <a:xfrm>
            <a:off x="6919340" y="2016175"/>
            <a:ext cx="4353486"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D8C"/>
                </a:solidFill>
                <a:latin typeface="IBM Plex Sans" pitchFamily="34" charset="0"/>
                <a:ea typeface="IBM Plex Sans" pitchFamily="34" charset="-122"/>
                <a:cs typeface="IBM Plex Sans" pitchFamily="34" charset="-120"/>
              </a:rPr>
              <a:t>Limitations</a:t>
            </a:r>
            <a:endParaRPr lang="en-US" sz="1500" dirty="0"/>
          </a:p>
        </p:txBody>
      </p:sp>
      <p:sp>
        <p:nvSpPr>
          <p:cNvPr id="9" name="Text 7"/>
          <p:cNvSpPr/>
          <p:nvPr/>
        </p:nvSpPr>
        <p:spPr>
          <a:xfrm>
            <a:off x="6947915" y="2320863"/>
            <a:ext cx="4319196" cy="1905000"/>
          </a:xfrm>
          <a:prstGeom prst="rect">
            <a:avLst/>
          </a:prstGeom>
          <a:noFill/>
          <a:ln/>
        </p:spPr>
        <p:txBody>
          <a:bodyPr wrap="square" lIns="0" tIns="0" rIns="0" bIns="0" rtlCol="0" anchor="t">
            <a:normAutofit/>
          </a:bodyPr>
          <a:lstStyle/>
          <a:p>
            <a:pPr marL="161925" indent="-161925" algn="l">
              <a:lnSpc>
                <a:spcPts val="1875"/>
              </a:lnSpc>
              <a:buSzPct val="100000"/>
              <a:buChar char="•"/>
            </a:pPr>
            <a:r>
              <a:rPr lang="en-US" sz="1250" dirty="0">
                <a:solidFill>
                  <a:srgbClr val="4A5568"/>
                </a:solidFill>
                <a:latin typeface="IBM Plex Sans" pitchFamily="34" charset="0"/>
                <a:ea typeface="IBM Plex Sans" pitchFamily="34" charset="-122"/>
                <a:cs typeface="IBM Plex Sans" pitchFamily="34" charset="-120"/>
              </a:rPr>
              <a:t>One split and one seed. Standard error is about 0.17 points, so the ensemble's 0.22 lead over NB-LR is within noise.</a:t>
            </a:r>
            <a:endParaRPr lang="en-US" sz="1250" dirty="0"/>
          </a:p>
          <a:p>
            <a:pPr marL="161925" indent="-161925" algn="l">
              <a:lnSpc>
                <a:spcPts val="1875"/>
              </a:lnSpc>
              <a:buSzPct val="100000"/>
              <a:buChar char="•"/>
            </a:pPr>
            <a:r>
              <a:rPr lang="en-US" sz="1250" dirty="0">
                <a:solidFill>
                  <a:srgbClr val="4A5568"/>
                </a:solidFill>
                <a:latin typeface="IBM Plex Sans" pitchFamily="34" charset="0"/>
                <a:ea typeface="IBM Plex Sans" pitchFamily="34" charset="-122"/>
                <a:cs typeface="IBM Plex Sans" pitchFamily="34" charset="-120"/>
              </a:rPr>
              <a:t>Boosting and the DNN used a reduced vocabulary.</a:t>
            </a:r>
            <a:endParaRPr lang="en-US" sz="1250" dirty="0"/>
          </a:p>
          <a:p>
            <a:pPr marL="161925" indent="-161925" algn="l">
              <a:lnSpc>
                <a:spcPts val="1875"/>
              </a:lnSpc>
              <a:buSzPct val="100000"/>
              <a:buChar char="•"/>
            </a:pPr>
            <a:r>
              <a:rPr lang="en-US" sz="1250" dirty="0">
                <a:solidFill>
                  <a:srgbClr val="4A5568"/>
                </a:solidFill>
                <a:latin typeface="IBM Plex Sans" pitchFamily="34" charset="0"/>
                <a:ea typeface="IBM Plex Sans" pitchFamily="34" charset="-122"/>
                <a:cs typeface="IBM Plex Sans" pitchFamily="34" charset="-120"/>
              </a:rPr>
              <a:t>The paper's code is offline, so some details are </a:t>
            </a:r>
            <a:r>
              <a:rPr lang="en-US" sz="1250">
                <a:solidFill>
                  <a:srgbClr val="4A5568"/>
                </a:solidFill>
                <a:latin typeface="IBM Plex Sans" pitchFamily="34" charset="0"/>
                <a:ea typeface="IBM Plex Sans" pitchFamily="34" charset="-122"/>
                <a:cs typeface="IBM Plex Sans" pitchFamily="34" charset="-120"/>
              </a:rPr>
              <a:t>assumptions.</a:t>
            </a:r>
            <a:endParaRPr lang="en-GB" sz="1250">
              <a:solidFill>
                <a:srgbClr val="4A5568"/>
              </a:solidFill>
              <a:latin typeface="IBM Plex Sans" pitchFamily="34" charset="0"/>
              <a:ea typeface="IBM Plex Sans" pitchFamily="34" charset="-122"/>
              <a:cs typeface="IBM Plex Sans" pitchFamily="34" charset="-120"/>
            </a:endParaRPr>
          </a:p>
          <a:p>
            <a:pPr marL="161925" indent="-161925" algn="l">
              <a:lnSpc>
                <a:spcPts val="1875"/>
              </a:lnSpc>
              <a:buSzPct val="100000"/>
              <a:buChar char="•"/>
            </a:pPr>
            <a:r>
              <a:rPr lang="en-GB" sz="1250">
                <a:solidFill>
                  <a:srgbClr val="4A5568"/>
                </a:solidFill>
                <a:latin typeface="IBM Plex Sans" pitchFamily="34" charset="0"/>
                <a:ea typeface="IBM Plex Sans" pitchFamily="34" charset="-122"/>
                <a:cs typeface="IBM Plex Sans" pitchFamily="34" charset="-120"/>
              </a:rPr>
              <a:t>The transformers were tuned on 80% of the training reviews and not refitted.</a:t>
            </a:r>
            <a:endParaRPr lang="en-US" sz="1250" dirty="0"/>
          </a:p>
        </p:txBody>
      </p:sp>
      <p:sp>
        <p:nvSpPr>
          <p:cNvPr id="10" name="Shape 8"/>
          <p:cNvSpPr/>
          <p:nvPr/>
        </p:nvSpPr>
        <p:spPr>
          <a:xfrm>
            <a:off x="6686166" y="4521200"/>
            <a:ext cx="4693033" cy="1161882"/>
          </a:xfrm>
          <a:prstGeom prst="roundRect">
            <a:avLst>
              <a:gd name="adj" fmla="val 7651"/>
            </a:avLst>
          </a:prstGeom>
          <a:solidFill>
            <a:srgbClr val="EEF1F6"/>
          </a:solidFill>
          <a:ln/>
        </p:spPr>
      </p:sp>
      <p:sp>
        <p:nvSpPr>
          <p:cNvPr id="11" name="Text 9"/>
          <p:cNvSpPr/>
          <p:nvPr/>
        </p:nvSpPr>
        <p:spPr>
          <a:xfrm>
            <a:off x="6914702" y="4711700"/>
            <a:ext cx="4363040"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D8C"/>
                </a:solidFill>
                <a:latin typeface="IBM Plex Sans" pitchFamily="34" charset="0"/>
                <a:ea typeface="IBM Plex Sans" pitchFamily="34" charset="-122"/>
                <a:cs typeface="IBM Plex Sans" pitchFamily="34" charset="-120"/>
              </a:rPr>
              <a:t>Future work</a:t>
            </a:r>
            <a:endParaRPr lang="en-US" sz="1500" dirty="0"/>
          </a:p>
        </p:txBody>
      </p:sp>
      <p:sp>
        <p:nvSpPr>
          <p:cNvPr id="12" name="Text 10"/>
          <p:cNvSpPr/>
          <p:nvPr/>
        </p:nvSpPr>
        <p:spPr>
          <a:xfrm>
            <a:off x="6914702" y="5016500"/>
            <a:ext cx="4363040" cy="501601"/>
          </a:xfrm>
          <a:prstGeom prst="rect">
            <a:avLst/>
          </a:prstGeom>
          <a:noFill/>
          <a:ln/>
        </p:spPr>
        <p:txBody>
          <a:bodyPr wrap="square" lIns="0" tIns="0" rIns="0" bIns="0" rtlCol="0" anchor="t">
            <a:normAutofit/>
          </a:bodyPr>
          <a:lstStyle/>
          <a:p>
            <a:pPr marL="0" indent="0" algn="l">
              <a:lnSpc>
                <a:spcPts val="1875"/>
              </a:lnSpc>
              <a:buNone/>
            </a:pPr>
            <a:r>
              <a:rPr lang="en-GB" sz="1250">
                <a:solidFill>
                  <a:srgbClr val="4A5568"/>
                </a:solidFill>
                <a:latin typeface="IBM Plex Sans" pitchFamily="34" charset="0"/>
                <a:ea typeface="IBM Plex Sans" pitchFamily="34" charset="-122"/>
                <a:cs typeface="IBM Plex Sans" pitchFamily="34" charset="-120"/>
              </a:rPr>
              <a:t>Repeat every run over several seeds, and read past 512 tokens for the longest reviews.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1C2541"/>
        </a:solidFill>
        <a:effectLst/>
      </p:bgPr>
    </p:bg>
    <p:spTree>
      <p:nvGrpSpPr>
        <p:cNvPr id="1" name=""/>
        <p:cNvGrpSpPr/>
        <p:nvPr/>
      </p:nvGrpSpPr>
      <p:grpSpPr>
        <a:xfrm>
          <a:off x="0" y="0"/>
          <a:ext cx="0" cy="0"/>
          <a:chOff x="0" y="0"/>
          <a:chExt cx="0" cy="0"/>
        </a:xfrm>
      </p:grpSpPr>
      <p:sp>
        <p:nvSpPr>
          <p:cNvPr id="2" name="Text 0"/>
          <p:cNvSpPr/>
          <p:nvPr/>
        </p:nvSpPr>
        <p:spPr>
          <a:xfrm>
            <a:off x="812774" y="812769"/>
            <a:ext cx="10883418" cy="25654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77D34"/>
                </a:solidFill>
                <a:latin typeface="IBM Plex Sans" pitchFamily="34" charset="0"/>
                <a:ea typeface="IBM Plex Sans" pitchFamily="34" charset="-122"/>
                <a:cs typeface="IBM Plex Sans" pitchFamily="34" charset="-120"/>
              </a:rPr>
              <a:t>LIVE DEMONSTRATION</a:t>
            </a:r>
            <a:endParaRPr lang="en-US" sz="1300" dirty="0"/>
          </a:p>
        </p:txBody>
      </p:sp>
      <p:sp>
        <p:nvSpPr>
          <p:cNvPr id="3" name="Text 1"/>
          <p:cNvSpPr>
            <a:spLocks noGrp="1"/>
          </p:cNvSpPr>
          <p:nvPr>
            <p:ph type="title"/>
          </p:nvPr>
        </p:nvSpPr>
        <p:spPr>
          <a:xfrm>
            <a:off x="812774" y="1120068"/>
            <a:ext cx="10883418" cy="1305463"/>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BFBF8"/>
                </a:solidFill>
                <a:latin typeface="Source Serif 4" pitchFamily="18" charset="0"/>
                <a:ea typeface="Source Serif 4" pitchFamily="18" charset="-122"/>
                <a:cs typeface="Source Serif 4" pitchFamily="18" charset="-120"/>
              </a:rPr>
              <a:t>Type a review,</a:t>
            </a:r>
            <a:endParaRPr lang="en-US" sz="4800" dirty="0"/>
          </a:p>
          <a:p>
            <a:pPr marL="0" indent="0" algn="l">
              <a:lnSpc>
                <a:spcPts val="5040"/>
              </a:lnSpc>
              <a:buNone/>
            </a:pPr>
            <a:r>
              <a:rPr lang="en-US" sz="4800" b="1" i="0" dirty="0">
                <a:solidFill>
                  <a:srgbClr val="FBFBF8"/>
                </a:solidFill>
                <a:latin typeface="Source Serif 4" pitchFamily="18" charset="0"/>
                <a:ea typeface="Source Serif 4" pitchFamily="18" charset="-122"/>
                <a:cs typeface="Source Serif 4" pitchFamily="18" charset="-120"/>
              </a:rPr>
              <a:t>see why it was classified</a:t>
            </a:r>
            <a:endParaRPr lang="en-US" sz="4800" dirty="0"/>
          </a:p>
        </p:txBody>
      </p:sp>
      <p:sp>
        <p:nvSpPr>
          <p:cNvPr id="4" name="Shape 2"/>
          <p:cNvSpPr/>
          <p:nvPr/>
        </p:nvSpPr>
        <p:spPr>
          <a:xfrm>
            <a:off x="815949" y="3445346"/>
            <a:ext cx="3397272" cy="1163575"/>
          </a:xfrm>
          <a:prstGeom prst="roundRect">
            <a:avLst>
              <a:gd name="adj" fmla="val 7367"/>
            </a:avLst>
          </a:prstGeom>
          <a:noFill/>
          <a:ln w="6350">
            <a:solidFill>
              <a:srgbClr val="3A4A70"/>
            </a:solidFill>
            <a:prstDash val="solid"/>
          </a:ln>
        </p:spPr>
      </p:sp>
      <p:sp>
        <p:nvSpPr>
          <p:cNvPr id="5" name="Text 3"/>
          <p:cNvSpPr/>
          <p:nvPr/>
        </p:nvSpPr>
        <p:spPr>
          <a:xfrm>
            <a:off x="1033267" y="3649979"/>
            <a:ext cx="3051516"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C77D34"/>
                </a:solidFill>
                <a:latin typeface="IBM Plex Sans" pitchFamily="34" charset="0"/>
                <a:ea typeface="IBM Plex Sans" pitchFamily="34" charset="-122"/>
                <a:cs typeface="IBM Plex Sans" pitchFamily="34" charset="-120"/>
              </a:rPr>
              <a:t>Streamlit app</a:t>
            </a:r>
            <a:endParaRPr lang="en-US" sz="1500" dirty="0"/>
          </a:p>
        </p:txBody>
      </p:sp>
      <p:sp>
        <p:nvSpPr>
          <p:cNvPr id="6" name="Text 4"/>
          <p:cNvSpPr/>
          <p:nvPr/>
        </p:nvSpPr>
        <p:spPr>
          <a:xfrm>
            <a:off x="1033267" y="3941992"/>
            <a:ext cx="3051516" cy="487689"/>
          </a:xfrm>
          <a:prstGeom prst="rect">
            <a:avLst/>
          </a:prstGeom>
          <a:noFill/>
          <a:ln/>
        </p:spPr>
        <p:txBody>
          <a:bodyPr wrap="square" lIns="0" tIns="0" rIns="0" bIns="0" rtlCol="0" anchor="t">
            <a:normAutofit/>
          </a:bodyPr>
          <a:lstStyle/>
          <a:p>
            <a:pPr marL="0" indent="0" algn="l">
              <a:lnSpc>
                <a:spcPts val="1820"/>
              </a:lnSpc>
              <a:buNone/>
            </a:pPr>
            <a:r>
              <a:rPr lang="en-GB" sz="1300">
                <a:solidFill>
                  <a:srgbClr val="AEC0D6"/>
                </a:solidFill>
                <a:latin typeface="IBM Plex Sans" pitchFamily="34" charset="0"/>
                <a:ea typeface="IBM Plex Sans" pitchFamily="34" charset="-122"/>
                <a:cs typeface="IBM Plex Sans" pitchFamily="34" charset="-120"/>
              </a:rPr>
              <a:t>Every model's prediction, RoBERTa included, and the words that drove it.</a:t>
            </a:r>
            <a:endParaRPr lang="en-US" sz="1300" dirty="0"/>
          </a:p>
        </p:txBody>
      </p:sp>
      <p:sp>
        <p:nvSpPr>
          <p:cNvPr id="7" name="Shape 5"/>
          <p:cNvSpPr/>
          <p:nvPr/>
        </p:nvSpPr>
        <p:spPr>
          <a:xfrm>
            <a:off x="4397314" y="3445346"/>
            <a:ext cx="3397345" cy="1163575"/>
          </a:xfrm>
          <a:prstGeom prst="roundRect">
            <a:avLst>
              <a:gd name="adj" fmla="val 7367"/>
            </a:avLst>
          </a:prstGeom>
          <a:noFill/>
          <a:ln w="6350">
            <a:solidFill>
              <a:srgbClr val="3A4A70"/>
            </a:solidFill>
            <a:prstDash val="solid"/>
          </a:ln>
        </p:spPr>
      </p:sp>
      <p:sp>
        <p:nvSpPr>
          <p:cNvPr id="8" name="Text 6"/>
          <p:cNvSpPr/>
          <p:nvPr/>
        </p:nvSpPr>
        <p:spPr>
          <a:xfrm>
            <a:off x="4614632" y="3649979"/>
            <a:ext cx="3051590"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C77D34"/>
                </a:solidFill>
                <a:latin typeface="IBM Plex Sans" pitchFamily="34" charset="0"/>
                <a:ea typeface="IBM Plex Sans" pitchFamily="34" charset="-122"/>
                <a:cs typeface="IBM Plex Sans" pitchFamily="34" charset="-120"/>
              </a:rPr>
              <a:t>Results vs paper</a:t>
            </a:r>
            <a:endParaRPr lang="en-US" sz="1500" dirty="0"/>
          </a:p>
        </p:txBody>
      </p:sp>
      <p:sp>
        <p:nvSpPr>
          <p:cNvPr id="9" name="Text 7"/>
          <p:cNvSpPr/>
          <p:nvPr/>
        </p:nvSpPr>
        <p:spPr>
          <a:xfrm>
            <a:off x="4614632" y="3941992"/>
            <a:ext cx="3051590" cy="487689"/>
          </a:xfrm>
          <a:prstGeom prst="rect">
            <a:avLst/>
          </a:prstGeom>
          <a:noFill/>
          <a:ln/>
        </p:spPr>
        <p:txBody>
          <a:bodyPr wrap="square" lIns="0" tIns="0" rIns="0" bIns="0" rtlCol="0" anchor="t">
            <a:normAutofit/>
          </a:bodyPr>
          <a:lstStyle/>
          <a:p>
            <a:pPr marL="0" indent="0" algn="l">
              <a:lnSpc>
                <a:spcPts val="1820"/>
              </a:lnSpc>
              <a:buNone/>
            </a:pPr>
            <a:r>
              <a:rPr lang="en-GB" sz="1300">
                <a:solidFill>
                  <a:srgbClr val="AEC0D6"/>
                </a:solidFill>
                <a:latin typeface="IBM Plex Sans" pitchFamily="34" charset="0"/>
                <a:ea typeface="IBM Plex Sans" pitchFamily="34" charset="-122"/>
                <a:cs typeface="IBM Plex Sans" pitchFamily="34" charset="-120"/>
              </a:rPr>
              <a:t>The headline chart with intervals and tests, and Table 2 side by side.</a:t>
            </a:r>
            <a:endParaRPr lang="en-US" sz="1300" dirty="0"/>
          </a:p>
        </p:txBody>
      </p:sp>
      <p:sp>
        <p:nvSpPr>
          <p:cNvPr id="10" name="Shape 8"/>
          <p:cNvSpPr/>
          <p:nvPr/>
        </p:nvSpPr>
        <p:spPr>
          <a:xfrm>
            <a:off x="7978751" y="3445346"/>
            <a:ext cx="3397272" cy="1163575"/>
          </a:xfrm>
          <a:prstGeom prst="roundRect">
            <a:avLst>
              <a:gd name="adj" fmla="val 7367"/>
            </a:avLst>
          </a:prstGeom>
          <a:noFill/>
          <a:ln w="6350">
            <a:solidFill>
              <a:srgbClr val="3A4A70"/>
            </a:solidFill>
            <a:prstDash val="solid"/>
          </a:ln>
        </p:spPr>
      </p:sp>
      <p:sp>
        <p:nvSpPr>
          <p:cNvPr id="11" name="Text 9"/>
          <p:cNvSpPr/>
          <p:nvPr/>
        </p:nvSpPr>
        <p:spPr>
          <a:xfrm>
            <a:off x="8196069" y="3649979"/>
            <a:ext cx="3051516"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C77D34"/>
                </a:solidFill>
                <a:latin typeface="IBM Plex Sans" pitchFamily="34" charset="0"/>
                <a:ea typeface="IBM Plex Sans" pitchFamily="34" charset="-122"/>
                <a:cs typeface="IBM Plex Sans" pitchFamily="34" charset="-120"/>
              </a:rPr>
              <a:t>Notebook</a:t>
            </a:r>
            <a:endParaRPr lang="en-US" sz="1500" dirty="0"/>
          </a:p>
        </p:txBody>
      </p:sp>
      <p:sp>
        <p:nvSpPr>
          <p:cNvPr id="12" name="Text 10"/>
          <p:cNvSpPr/>
          <p:nvPr/>
        </p:nvSpPr>
        <p:spPr>
          <a:xfrm>
            <a:off x="8196069" y="3941992"/>
            <a:ext cx="3051516"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C0D6"/>
                </a:solidFill>
                <a:latin typeface="IBM Plex Sans" pitchFamily="34" charset="0"/>
                <a:ea typeface="IBM Plex Sans" pitchFamily="34" charset="-122"/>
                <a:cs typeface="IBM Plex Sans" pitchFamily="34" charset="-120"/>
              </a:rPr>
              <a:t>walkthrough.ipynb: data, results and live predictions.</a:t>
            </a:r>
            <a:endParaRPr lang="en-US" sz="1300" dirty="0"/>
          </a:p>
        </p:txBody>
      </p:sp>
      <p:sp>
        <p:nvSpPr>
          <p:cNvPr id="13" name="Text 11"/>
          <p:cNvSpPr/>
          <p:nvPr/>
        </p:nvSpPr>
        <p:spPr>
          <a:xfrm>
            <a:off x="812774" y="5814045"/>
            <a:ext cx="6036048"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C0D6"/>
                </a:solidFill>
                <a:latin typeface="IBM Plex Sans" pitchFamily="34" charset="0"/>
                <a:ea typeface="IBM Plex Sans" pitchFamily="34" charset="-122"/>
                <a:cs typeface="IBM Plex Sans" pitchFamily="34" charset="-120"/>
              </a:rPr>
              <a:t>github.com/ArjunGK28/ML-miniproject (private, shared with faculty)</a:t>
            </a:r>
            <a:endParaRPr lang="en-US" sz="1300" dirty="0"/>
          </a:p>
        </p:txBody>
      </p:sp>
      <p:sp>
        <p:nvSpPr>
          <p:cNvPr id="14" name="Text 12"/>
          <p:cNvSpPr/>
          <p:nvPr/>
        </p:nvSpPr>
        <p:spPr>
          <a:xfrm>
            <a:off x="9624007" y="5654055"/>
            <a:ext cx="1755192" cy="416534"/>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FBFBF8"/>
                </a:solidFill>
                <a:latin typeface="Source Serif 4" pitchFamily="18" charset="0"/>
                <a:ea typeface="Source Serif 4" pitchFamily="18" charset="-122"/>
                <a:cs typeface="Source Serif 4" pitchFamily="18" charset="-120"/>
              </a:rPr>
              <a:t>Questions?</a:t>
            </a:r>
            <a:endParaRPr lang="en-US" sz="2200" dirty="0"/>
          </a:p>
        </p:txBody>
      </p:sp>
    </p:spTree>
  </p:cSld>
  <p:clrMapOvr>
    <a:masterClrMapping/>
  </p:clrMapOvr>
</p:sld>
</file>

<file path=ppt/theme/theme1.xml><?xml version="1.0" encoding="utf-8"?>
<a:theme xmlns:a="http://schemas.openxmlformats.org/drawingml/2006/main" name="IMDb Sentiment: Reproduce &amp; Improve">
  <a:themeElements>
    <a:clrScheme name="IMDb Sentiment: Reproduce &amp; Improve">
      <a:dk1>
        <a:srgbClr val="1C2541"/>
      </a:dk1>
      <a:lt1>
        <a:srgbClr val="FBFBF8"/>
      </a:lt1>
      <a:dk2>
        <a:srgbClr val="545B6F"/>
      </a:dk2>
      <a:lt2>
        <a:srgbClr val="E5E6E6"/>
      </a:lt2>
      <a:accent1>
        <a:srgbClr val="C77D34"/>
      </a:accent1>
      <a:accent2>
        <a:srgbClr val="2F5D8C"/>
      </a:accent2>
      <a:accent3>
        <a:srgbClr val="AEC0D6"/>
      </a:accent3>
      <a:accent4>
        <a:srgbClr val="4A5568"/>
      </a:accent4>
      <a:accent5>
        <a:srgbClr val="8A93A6"/>
      </a:accent5>
      <a:accent6>
        <a:srgbClr val="9AA0A6"/>
      </a:accent6>
      <a:hlink>
        <a:srgbClr val="0563C1"/>
      </a:hlink>
      <a:folHlink>
        <a:srgbClr val="954F72"/>
      </a:folHlink>
    </a:clrScheme>
    <a:fontScheme name="IMDb Sentiment: Reproduce &amp; Improve">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4119</Words>
  <Application>Microsoft Office PowerPoint</Application>
  <PresentationFormat>Widescreen</PresentationFormat>
  <Paragraphs>397</Paragraphs>
  <Slides>22</Slides>
  <Notes>22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IBM Plex Sans</vt:lpstr>
      <vt:lpstr>Source Serif 4</vt:lpstr>
      <vt:lpstr>IMDb Sentiment: Reproduce &amp; Improve</vt:lpstr>
      <vt:lpstr>Sentiment Analysis of IMDb Reviews</vt:lpstr>
      <vt:lpstr>Classification for sentiment analysis of IMDb reviews</vt:lpstr>
      <vt:lpstr>Large Movie Review Dataset v1.0</vt:lpstr>
      <vt:lpstr>One pipeline, three representations, six models</vt:lpstr>
      <vt:lpstr>Validate by movie, not at random</vt:lpstr>
      <vt:lpstr>We match the paper's Table 2</vt:lpstr>
      <vt:lpstr>Logistic Regression lands on the paper's numbers</vt:lpstr>
      <vt:lpstr>SVM matches the paper, best on tf-idf</vt:lpstr>
      <vt:lpstr>Naive Bayes sits just under the paper on all three</vt:lpstr>
      <vt:lpstr>Random Forest beats the paper by about a point</vt:lpstr>
      <vt:lpstr>Boosting falls short on a reduced vocabulary</vt:lpstr>
      <vt:lpstr>The DNN trails slightly on a smaller vocabulary</vt:lpstr>
      <vt:lpstr>Past the paper's best</vt:lpstr>
      <vt:lpstr>Four of our five new classifiers beat the paper</vt:lpstr>
      <vt:lpstr>Simple changes, not a bigger model</vt:lpstr>
      <vt:lpstr>Fine-tuned RoBERTa reaches 95.9%</vt:lpstr>
      <vt:lpstr>Reading in order beats counting n-grams</vt:lpstr>
      <vt:lpstr>Three problems in the paper itself</vt:lpstr>
      <vt:lpstr>A small package with one shared loop</vt:lpstr>
      <vt:lpstr>Who built what</vt:lpstr>
      <vt:lpstr>What we can and cannot claim</vt:lpstr>
      <vt:lpstr>Type a review, see why it was classified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Sentiment: Reproduce &amp; Improve</dc:title>
  <dc:subject/>
  <dc:creator/>
  <cp:lastModifiedBy>Arjun Kanagal</cp:lastModifiedBy>
  <cp:revision>7</cp:revision>
  <dcterms:created xsi:type="dcterms:W3CDTF">2026-10-11T16:51:36Z</dcterms:created>
  <dcterms:modified xsi:type="dcterms:W3CDTF">2026-10-25T09:17:30Z</dcterms:modified>
</cp:coreProperties>
</file>